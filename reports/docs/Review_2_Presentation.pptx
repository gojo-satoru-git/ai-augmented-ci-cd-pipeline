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" y="-8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ENV_FAULT metrics, before vs. after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(weight-power 1.0)</c:v>
                </c:pt>
              </c:strCache>
            </c:strRef>
          </c:tx>
          <c:spPr>
            <a:solidFill>
              <a:srgbClr val="C97A1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28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0.27600000000000002</c:v>
                </c:pt>
                <c:pt idx="1">
                  <c:v>0.70899999999999996</c:v>
                </c:pt>
                <c:pt idx="2">
                  <c:v>0.39700000000000002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BF-4B00-A67F-E91391AD78F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(weight-power 0.5)</c:v>
                </c:pt>
              </c:strCache>
            </c:strRef>
          </c:tx>
          <c:spPr>
            <a:solidFill>
              <a:srgbClr val="1E8A6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28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0.61099999999999999</c:v>
                </c:pt>
                <c:pt idx="1">
                  <c:v>0.39700000000000002</c:v>
                </c:pt>
                <c:pt idx="2">
                  <c:v>0.48099999999999998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FBF-4B00-A67F-E91391AD78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8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</c:scaling>
        <c:delete val="0"/>
        <c:axPos val="l"/>
        <c:majorGridlines>
          <c:spPr>
            <a:ln w="12700" cap="flat">
              <a:solidFill>
                <a:srgbClr val="E4E9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Top-1 localization accuracy by fault class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 method</c:v>
                </c:pt>
              </c:strCache>
            </c:strRef>
          </c:tx>
          <c:spPr>
            <a:solidFill>
              <a:srgbClr val="1E8A6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28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ENV_FAULT</c:v>
                </c:pt>
                <c:pt idx="1">
                  <c:v>COMPOUND</c:v>
                </c:pt>
                <c:pt idx="2">
                  <c:v>INFRA_FLAKE</c:v>
                </c:pt>
                <c:pt idx="3">
                  <c:v>DATA_FAULT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0.82</c:v>
                </c:pt>
                <c:pt idx="1">
                  <c:v>0.74</c:v>
                </c:pt>
                <c:pt idx="2">
                  <c:v>0.59</c:v>
                </c:pt>
                <c:pt idx="3">
                  <c:v>0.26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8B-4A4C-A44B-D071455BB07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pick</c:v>
                </c:pt>
              </c:strCache>
            </c:strRef>
          </c:tx>
          <c:spPr>
            <a:solidFill>
              <a:srgbClr val="B9C2D9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28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ENV_FAULT</c:v>
                </c:pt>
                <c:pt idx="1">
                  <c:v>COMPOUND</c:v>
                </c:pt>
                <c:pt idx="2">
                  <c:v>INFRA_FLAKE</c:v>
                </c:pt>
                <c:pt idx="3">
                  <c:v>DATA_FAULT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0.03</c:v>
                </c:pt>
                <c:pt idx="1">
                  <c:v>0.04</c:v>
                </c:pt>
                <c:pt idx="2">
                  <c:v>0.14000000000000001</c:v>
                </c:pt>
                <c:pt idx="3">
                  <c:v>0.16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8B-4A4C-A44B-D071455BB07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Slowest span</c:v>
                </c:pt>
              </c:strCache>
            </c:strRef>
          </c:tx>
          <c:spPr>
            <a:solidFill>
              <a:srgbClr val="E4A6A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28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ENV_FAULT</c:v>
                </c:pt>
                <c:pt idx="1">
                  <c:v>COMPOUND</c:v>
                </c:pt>
                <c:pt idx="2">
                  <c:v>INFRA_FLAKE</c:v>
                </c:pt>
                <c:pt idx="3">
                  <c:v>DATA_FAULT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98B-4A4C-A44B-D071455BB07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8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2706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57200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kern="0" spc="1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  •  MADRAS INSTITUTE OF TECHNOLOGY, ANNA UNIVERSITY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2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Progress Presentation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651760" y="3703320"/>
            <a:ext cx="6858000" cy="1051560"/>
          </a:xfrm>
          <a:prstGeom prst="roundRect">
            <a:avLst>
              <a:gd name="adj" fmla="val 6957"/>
            </a:avLst>
          </a:prstGeom>
          <a:solidFill>
            <a:srgbClr val="232C5C"/>
          </a:solidFill>
          <a:ln w="12700">
            <a:solidFill>
              <a:srgbClr val="3A46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3767328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AI-Augmented CI/CD Pipeline with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Trust-Tiering and Chaos Engineering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074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18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3949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Praveen Kumar C (2023510023)   •   Jaiprakash S (2023510027)   •   Dharshini T (2023510062)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760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Dr. P. Anandha Kumar, Professor, Department of Information Technology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Set Out to Solve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9494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CI/CD pipelines rely on static, hardcoded rules and manual SRE effort to triage test failures, verify security risk, and manage rollbacks. Granting an AI agent execution rights over a pipeline is risky without a mathematically sound, stateful trust mechanism.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6949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0000"/>
              </a:lnSpc>
              <a:buSzPct val="100000"/>
              <a:buChar char="▪"/>
            </a:pPr>
            <a:r>
              <a:rPr lang="en-US" sz="150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Flakiness Classification — is a failure a real bug, or a transient glitch worth retrying?</a:t>
            </a:r>
            <a:endParaRPr lang="en-US" sz="1500" dirty="0"/>
          </a:p>
          <a:p>
            <a:pPr marL="228600" indent="-228600">
              <a:lnSpc>
                <a:spcPct val="130000"/>
              </a:lnSpc>
              <a:buSzPct val="100000"/>
              <a:buChar char="▪"/>
            </a:pPr>
            <a:r>
              <a:rPr lang="en-US" sz="150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Trust Governance — how much autonomy has an AI agent actually earned?</a:t>
            </a:r>
            <a:endParaRPr lang="en-US" sz="1500" dirty="0"/>
          </a:p>
          <a:p>
            <a:pPr marL="228600" indent="-228600">
              <a:lnSpc>
                <a:spcPct val="130000"/>
              </a:lnSpc>
              <a:buSzPct val="100000"/>
              <a:buChar char="▪"/>
            </a:pPr>
            <a:r>
              <a:rPr lang="en-US" sz="150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Postmortem Generation — where, inside a failing trace, is the actual fault?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0" y="1508760"/>
            <a:ext cx="3840480" cy="4663440"/>
          </a:xfrm>
          <a:prstGeom prst="roundRect">
            <a:avLst>
              <a:gd name="adj" fmla="val 2143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01000" y="1691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Gap Identified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01000" y="214884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0000"/>
              </a:lnSpc>
              <a:buSzPct val="100000"/>
              <a:buChar char="▪"/>
            </a:pPr>
            <a:r>
              <a:rPr lang="en-US" sz="12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stateful, empirically-calibrated trust model governs AI agent autonomy in CI/CD</a:t>
            </a:r>
            <a:endParaRPr lang="en-US" sz="1250" dirty="0"/>
          </a:p>
          <a:p>
            <a:pPr marL="228600" indent="-228600">
              <a:lnSpc>
                <a:spcPct val="130000"/>
              </a:lnSpc>
              <a:buSzPct val="100000"/>
              <a:buChar char="▪"/>
            </a:pPr>
            <a:r>
              <a:rPr lang="en-US" sz="12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tools flag CVEs but rarely verify execution reachability</a:t>
            </a:r>
            <a:endParaRPr lang="en-US" sz="1250" dirty="0"/>
          </a:p>
          <a:p>
            <a:pPr marL="228600" indent="-228600">
              <a:lnSpc>
                <a:spcPct val="130000"/>
              </a:lnSpc>
              <a:buSzPct val="100000"/>
              <a:buChar char="▪"/>
            </a:pPr>
            <a:r>
              <a:rPr lang="en-US" sz="12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methods are largely reactive, not proactive</a:t>
            </a:r>
            <a:endParaRPr lang="en-US" sz="1250" dirty="0"/>
          </a:p>
          <a:p>
            <a:pPr marL="228600" indent="-228600">
              <a:lnSpc>
                <a:spcPct val="130000"/>
              </a:lnSpc>
              <a:buSzPct val="100000"/>
              <a:buChar char="▪"/>
            </a:pPr>
            <a:r>
              <a:rPr lang="en-US" sz="12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framework combines Triage + Trust + RCA in one governed pipeline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Proposed to Build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cooperating agents, each independently governed, feeding one policy engine: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EAF3EF"/>
          </a:solidFill>
          <a:ln w="12700">
            <a:solidFill>
              <a:srgbClr val="BEE0CE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130552"/>
            <a:ext cx="384048" cy="384048"/>
          </a:xfrm>
          <a:prstGeom prst="ellipse">
            <a:avLst/>
          </a:prstGeom>
          <a:solidFill>
            <a:srgbClr val="1E8A6E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130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Test-Triage Agent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07008" y="24688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LSTM-based sequential log modeling -&gt; flaky-test classification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07992" y="21305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07992" y="2130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01768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Agent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01768" y="24688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call-graph reachability -&gt; verified exploitable CVEs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96596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02752" y="21305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302752" y="2130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96528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796528" y="24688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T0-T3 stateful trust-tier evaluation -&gt; execution decision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37764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3776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07008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Agent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207008" y="41148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telemetry fusion -&gt; canary health score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43400" y="361188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07992" y="37764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507992" y="3776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01768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Postmortem Agent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001768" y="41148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-&gt; incident timeline + remediation PR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361188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02752" y="37764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8302752" y="3776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796528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Engineering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796528" y="41148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fault injection -&gt; trust boundary validation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5349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Highlighted: the Triage Agent — the foundation everything else in this review builds on.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REVIEW DELIVERS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Proposal to Proven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05740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A46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737360" y="205740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at Scale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35040" y="205740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real distributed-system events, honestly counted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898648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A46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37360" y="2898648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Model + New Architecture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35040" y="2898648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Attention-pooled BiLSTM, retrained, re-evaluated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739896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A46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737360" y="3739896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Trust-Tier Engine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5040" y="3739896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gated agent autonomy, T0 -&gt; T3, proven live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4581144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A46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37360" y="4581144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Analysis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5040" y="4581144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the exact span responsible for a failure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422392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A46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737360" y="5422392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What's Next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35040" y="5422392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plainly, not hidden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FOUNDATION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Dataset, at Real Scale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below is measured directly from the working pipeline — nothing projected.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2011680"/>
            <a:ext cx="3374136" cy="10872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 GB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3082442"/>
            <a:ext cx="3337560" cy="6748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distributed-system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data on disk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9202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25112" y="2011680"/>
            <a:ext cx="3374136" cy="10872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E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363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343400" y="3082442"/>
            <a:ext cx="3337560" cy="6748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fault-injection scenario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folders across 17 fault families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55280" y="19202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28432" y="2011680"/>
            <a:ext cx="3374136" cy="10872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370,000+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046720" y="3082442"/>
            <a:ext cx="3337560" cy="6748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traces logged across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TraceBench dataset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" y="4114800"/>
            <a:ext cx="3374136" cy="10872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2,110,221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40080" y="5185562"/>
            <a:ext cx="3337560" cy="6748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timestamped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baselined for RCA alone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51960" y="402336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25112" y="4114800"/>
            <a:ext cx="3374136" cy="10872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E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81,777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4343400" y="5185562"/>
            <a:ext cx="3337560" cy="6748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clock-aligned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hosts — 100% success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55280" y="402336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28432" y="4114800"/>
            <a:ext cx="3374136" cy="10872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61,767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8046720" y="5185562"/>
            <a:ext cx="3337560" cy="6748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in the final training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(train+val+test)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FOUNDATION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Solving Un-Synchronized Clocks Across Hosts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event's timestamp is on its OWN host's clock. Two machines' clocks are never aligned — so sorting by raw time gives the wrong order.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1737360"/>
          </a:xfrm>
          <a:prstGeom prst="roundRect">
            <a:avLst>
              <a:gd name="adj" fmla="val 4737"/>
            </a:avLst>
          </a:prstGeom>
          <a:solidFill>
            <a:srgbClr val="FCEFEF"/>
          </a:solidFill>
          <a:ln w="12700">
            <a:solidFill>
              <a:srgbClr val="EBC6C6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raw timestamps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client001  t=1000  →  RPC:getFileInfo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namenode   t=500000  →  getFileInfo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raw time: namenode appears to run AFTER a 499000-tick gap — meaningless across two independent clocks.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64240" cy="1737360"/>
          </a:xfrm>
          <a:prstGeom prst="roundRect">
            <a:avLst>
              <a:gd name="adj" fmla="val 4737"/>
            </a:avLst>
          </a:prstGeom>
          <a:solidFill>
            <a:srgbClr val="EAF3EF"/>
          </a:solidFill>
          <a:ln w="12700">
            <a:solidFill>
              <a:srgbClr val="BEE0CE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aligned onto one common timeline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client001  aligned=1000  →  RPC:getFileInfo   (depth 1, caller)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4846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namenode   aligned=1000  →  getFileInfo         (depth 2, handler)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5212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offset[namenode] = -499,000, computed from edge.csv's own FatherStartTime — no external clock sync assumed.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81,777 / 81,777 traces (100%) fully aligned — the true root operation is recovered every time.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MODEL ARCHITECTURE CHANGE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Architecture: Attention-Pooled BiLSTM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“just use the network's last output” with a learned, per-timestep importance score — so the failing span dominates the summary, wherever it sits in the sequence.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257800" cy="3977640"/>
          </a:xfrm>
          <a:prstGeom prst="roundRect">
            <a:avLst>
              <a:gd name="adj" fmla="val 2069"/>
            </a:avLst>
          </a:prstGeom>
          <a:solidFill>
            <a:srgbClr val="FCEFEF"/>
          </a:solidFill>
          <a:ln w="12700">
            <a:solidFill>
              <a:srgbClr val="EBC6C6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37744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PHASE 1 — Last Hidden State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566928" cy="384048"/>
          </a:xfrm>
          <a:prstGeom prst="roundRect">
            <a:avLst>
              <a:gd name="adj" fmla="val 9524"/>
            </a:avLst>
          </a:prstGeom>
          <a:solidFill>
            <a:srgbClr val="EAEAEA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063240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63040" y="3063240"/>
            <a:ext cx="566928" cy="384048"/>
          </a:xfrm>
          <a:prstGeom prst="roundRect">
            <a:avLst>
              <a:gd name="adj" fmla="val 9524"/>
            </a:avLst>
          </a:prstGeom>
          <a:solidFill>
            <a:srgbClr val="EAEAEA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3063240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03120" y="3063240"/>
            <a:ext cx="566928" cy="384048"/>
          </a:xfrm>
          <a:prstGeom prst="roundRect">
            <a:avLst>
              <a:gd name="adj" fmla="val 9524"/>
            </a:avLst>
          </a:prstGeom>
          <a:solidFill>
            <a:srgbClr val="EAEAEA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3063240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0" y="3063240"/>
            <a:ext cx="566928" cy="384048"/>
          </a:xfrm>
          <a:prstGeom prst="roundRect">
            <a:avLst>
              <a:gd name="adj" fmla="val 9524"/>
            </a:avLst>
          </a:prstGeom>
          <a:solidFill>
            <a:srgbClr val="F0B8B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3063240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3063240"/>
            <a:ext cx="566928" cy="384048"/>
          </a:xfrm>
          <a:prstGeom prst="roundRect">
            <a:avLst>
              <a:gd name="adj" fmla="val 9524"/>
            </a:avLst>
          </a:prstGeom>
          <a:solidFill>
            <a:srgbClr val="F2F2F2"/>
          </a:solidFill>
          <a:ln w="12700">
            <a:solidFill>
              <a:srgbClr val="C9C9C9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383280" y="3063240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23360" y="3063240"/>
            <a:ext cx="566928" cy="384048"/>
          </a:xfrm>
          <a:prstGeom prst="roundRect">
            <a:avLst>
              <a:gd name="adj" fmla="val 9524"/>
            </a:avLst>
          </a:prstGeom>
          <a:solidFill>
            <a:srgbClr val="F2F2F2"/>
          </a:solidFill>
          <a:ln w="12700">
            <a:solidFill>
              <a:srgbClr val="C9C9C9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023360" y="3063240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063240"/>
            <a:ext cx="566928" cy="384048"/>
          </a:xfrm>
          <a:prstGeom prst="roundRect">
            <a:avLst>
              <a:gd name="adj" fmla="val 9524"/>
            </a:avLst>
          </a:prstGeom>
          <a:solidFill>
            <a:srgbClr val="F2F2F2"/>
          </a:solidFill>
          <a:ln w="12700">
            <a:solidFill>
              <a:srgbClr val="C9C9C9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663440" y="3063240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36576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only the FINAL output is used as the summary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4114800"/>
            <a:ext cx="3017520" cy="502920"/>
          </a:xfrm>
          <a:prstGeom prst="roundRect">
            <a:avLst>
              <a:gd name="adj" fmla="val 10909"/>
            </a:avLst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1148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h_n used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484632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8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the final state is mostly memory of PAD steps, not of the real ERR event — signal gets diluted and lost.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080760" y="2148840"/>
            <a:ext cx="5257800" cy="3977640"/>
          </a:xfrm>
          <a:prstGeom prst="roundRect">
            <a:avLst>
              <a:gd name="adj" fmla="val 2069"/>
            </a:avLst>
          </a:prstGeom>
          <a:solidFill>
            <a:srgbClr val="EAF3EF"/>
          </a:solidFill>
          <a:ln w="12700">
            <a:solidFill>
              <a:srgbClr val="BEE0CE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55080" y="237744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OUR MODEL — Attention Pooling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355080" y="3063240"/>
            <a:ext cx="566928" cy="384048"/>
          </a:xfrm>
          <a:prstGeom prst="roundRect">
            <a:avLst>
              <a:gd name="adj" fmla="val 9524"/>
            </a:avLst>
          </a:prstGeom>
          <a:solidFill>
            <a:srgbClr val="CFE9D3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306324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op1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355080" y="3246120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A8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995160" y="3063240"/>
            <a:ext cx="566928" cy="384048"/>
          </a:xfrm>
          <a:prstGeom prst="roundRect">
            <a:avLst>
              <a:gd name="adj" fmla="val 9524"/>
            </a:avLst>
          </a:prstGeom>
          <a:solidFill>
            <a:srgbClr val="CFE9D3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306324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op2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995160" y="3246120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A8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635240" y="3063240"/>
            <a:ext cx="566928" cy="384048"/>
          </a:xfrm>
          <a:prstGeom prst="roundRect">
            <a:avLst>
              <a:gd name="adj" fmla="val 9524"/>
            </a:avLst>
          </a:prstGeom>
          <a:solidFill>
            <a:srgbClr val="CFE9D3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35240" y="306324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op3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635240" y="3246120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A8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275320" y="3063240"/>
            <a:ext cx="566928" cy="384048"/>
          </a:xfrm>
          <a:prstGeom prst="roundRect">
            <a:avLst>
              <a:gd name="adj" fmla="val 9524"/>
            </a:avLst>
          </a:prstGeom>
          <a:solidFill>
            <a:srgbClr val="7FC98C"/>
          </a:solidFill>
          <a:ln w="12700">
            <a:solidFill>
              <a:srgbClr val="1E82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75320" y="306324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55C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275320" y="3246120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5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915400" y="3063240"/>
            <a:ext cx="566928" cy="384048"/>
          </a:xfrm>
          <a:prstGeom prst="roundRect">
            <a:avLst>
              <a:gd name="adj" fmla="val 9524"/>
            </a:avLst>
          </a:prstGeom>
          <a:solidFill>
            <a:srgbClr val="F2F2F2"/>
          </a:solidFill>
          <a:ln w="12700">
            <a:solidFill>
              <a:srgbClr val="C9C9C9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8915400" y="306324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915400" y="3246120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A8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555480" y="3063240"/>
            <a:ext cx="566928" cy="384048"/>
          </a:xfrm>
          <a:prstGeom prst="roundRect">
            <a:avLst>
              <a:gd name="adj" fmla="val 9524"/>
            </a:avLst>
          </a:prstGeom>
          <a:solidFill>
            <a:srgbClr val="F2F2F2"/>
          </a:solidFill>
          <a:ln w="12700">
            <a:solidFill>
              <a:srgbClr val="C9C9C9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9555480" y="306324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9555480" y="3246120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A8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0195560" y="3063240"/>
            <a:ext cx="566928" cy="384048"/>
          </a:xfrm>
          <a:prstGeom prst="roundRect">
            <a:avLst>
              <a:gd name="adj" fmla="val 9524"/>
            </a:avLst>
          </a:prstGeom>
          <a:solidFill>
            <a:srgbClr val="F2F2F2"/>
          </a:solidFill>
          <a:ln w="12700">
            <a:solidFill>
              <a:srgbClr val="C9C9C9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10195560" y="306324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0195560" y="3246120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A8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355080" y="36576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EVERY real step votes, weighted by learned importance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355080" y="4114800"/>
            <a:ext cx="3017520" cy="502920"/>
          </a:xfrm>
          <a:prstGeom prst="roundRect">
            <a:avLst>
              <a:gd name="adj" fmla="val 10909"/>
            </a:avLst>
          </a:prstGeom>
          <a:solidFill>
            <a:srgbClr val="1E8A6E"/>
          </a:solidFill>
          <a:ln/>
        </p:spPr>
      </p:sp>
      <p:sp>
        <p:nvSpPr>
          <p:cNvPr id="50" name="Text 48"/>
          <p:cNvSpPr/>
          <p:nvPr/>
        </p:nvSpPr>
        <p:spPr>
          <a:xfrm>
            <a:off x="6355080" y="41148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wᵢ · hᵢ  (weighted sum)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355080" y="484632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the ERR span dominates the summary (weight 0.80), PAD contributes ~0, and the weights double as evidence spans shown to the user.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MODEL ARCHITECTURE CHANGE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Mechanics, Step by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37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real timestep gets a learned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score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08960" y="2103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37560" y="160020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737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2860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6060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is forced to -infinity,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exactly 0 after softmax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97880" y="2103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126480" y="160020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737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63640" y="22860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26060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turns scores into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that sum to 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0" y="2103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915400" y="160020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52560" y="1737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905256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52560" y="22860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52560" y="26060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 of every timestep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trace's summary vector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3429000"/>
            <a:ext cx="11064240" cy="1783080"/>
          </a:xfrm>
          <a:prstGeom prst="roundRect">
            <a:avLst>
              <a:gd name="adj" fmla="val 4615"/>
            </a:avLst>
          </a:prstGeom>
          <a:solidFill>
            <a:srgbClr val="141B49"/>
          </a:solidFill>
          <a:ln/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" y="3611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self.att(out).squeeze(-1)                    # 1. raw score per timestep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2960" y="3995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scores.masked_fill(~mask, -inf)               # 2. padding -&gt; -infinity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2960" y="437997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torch.softmax(scores, dim=1)                       # 3. scores -&gt; weights (sum to 1)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22960" y="476402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attended = torch.bmm(w.unsqueeze(1), out).squeeze(1)   # 4. weighted-average summary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544068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FF7EC"/>
          </a:solidFill>
          <a:ln w="12700">
            <a:solidFill>
              <a:srgbClr val="F0D6A8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49808" y="5568696"/>
            <a:ext cx="10661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49808" y="5861304"/>
            <a:ext cx="10661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weights double as “evidence spans” returned by the API — the model can point at exactly which operation drove its decision, instead of being a black box.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on the Held-Out Test 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10,513 real traces the model never saw during training, from 57 scenario folders also never seen (grouped split).</a:t>
            </a:r>
            <a:endParaRPr lang="en-US" sz="1350" dirty="0"/>
          </a:p>
        </p:txBody>
      </p:sp>
      <p:pic>
        <p:nvPicPr>
          <p:cNvPr id="5" name="Image 0" descr="C:\Users\Lenovo\AppData\Local\Temp\claude\D--PROJECTS-7th-SEM\c730aacd-7873-4666-8489-7103a2a311d5\scratchpad\confusion_matrix.png"/>
          <p:cNvPicPr>
            <a:picLocks noChangeAspect="1"/>
          </p:cNvPicPr>
          <p:nvPr/>
        </p:nvPicPr>
        <p:blipFill>
          <a:blip r:embed="rId3"/>
          <a:srcRect l="-7732" r="-7732"/>
          <a:stretch/>
        </p:blipFill>
        <p:spPr>
          <a:xfrm>
            <a:off x="640080" y="1874520"/>
            <a:ext cx="5120640" cy="443484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874520"/>
          <a:ext cx="5394960" cy="21945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0.79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0.60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0.69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INFRA_FLAKE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0.72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0.79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0.76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DATA_FAULT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0.73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0.91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0.81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ENV_FAULT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0.61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0.40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0.48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REAL_BUG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172200" y="416052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355080" y="43159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= 0.746   |   accuracy = 76.9%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355080" y="475488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0000"/>
              </a:lnSpc>
              <a:buSzPct val="100000"/>
              <a:buChar char="▪"/>
            </a:pPr>
            <a:r>
              <a:rPr lang="en-US" sz="120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 / 10,513 decisions (1.3%) wrongly retried</a:t>
            </a:r>
            <a:endParaRPr lang="en-US" sz="1200" dirty="0"/>
          </a:p>
          <a:p>
            <a:pPr marL="228600" indent="-228600">
              <a:lnSpc>
                <a:spcPct val="130000"/>
              </a:lnSpc>
              <a:buSzPct val="100000"/>
              <a:buChar char="▪"/>
            </a:pPr>
            <a:r>
              <a:rPr lang="en-US" sz="120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REAL_BUG misses across the entire test set</a:t>
            </a:r>
            <a:endParaRPr lang="en-US" sz="1200" dirty="0"/>
          </a:p>
          <a:p>
            <a:pPr marL="228600" indent="-228600">
              <a:lnSpc>
                <a:spcPct val="130000"/>
              </a:lnSpc>
              <a:buSzPct val="100000"/>
              <a:buChar char="▪"/>
            </a:pPr>
            <a:r>
              <a:rPr lang="en-US" sz="120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REAL_BUG's perfect score is a workload-length confound — stated plainly, not hidden</a:t>
            </a:r>
            <a:endParaRPr lang="en-US" sz="1200" dirty="0"/>
          </a:p>
        </p:txBody>
      </p:sp>
      <p:sp>
        <p:nvSpPr>
          <p:cNvPr id="6" name="Text 6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TRAINING IMPROVEMENT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Fixing ENV_FAULT — A Real, Reported Trade-off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ENV_FAULT's class weight over-corrected, making it a false-positive magnet. Softening the weight formula (--weight-power 0.5) traded recall for precision:</a:t>
            </a:r>
            <a:endParaRPr lang="en-US" sz="13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822960" y="1874520"/>
          <a:ext cx="6949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001000" y="1874520"/>
            <a:ext cx="3410712" cy="2606041"/>
          </a:xfrm>
          <a:prstGeom prst="roundRect">
            <a:avLst>
              <a:gd name="adj" fmla="val 2308"/>
            </a:avLst>
          </a:prstGeom>
          <a:solidFill>
            <a:srgbClr val="FFF7EC"/>
          </a:solidFill>
          <a:ln w="12700">
            <a:solidFill>
              <a:srgbClr val="F0D6A8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11312" y="2057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Honestly, not solved: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11312" y="246888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0000"/>
              </a:lnSpc>
              <a:buSzPct val="100000"/>
              <a:buChar char="▪"/>
            </a:pPr>
            <a:r>
              <a:rPr lang="en-US" sz="11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612 PASS + 736 DATA_FAULT + 203 INFRA_FLAKE false alarms  BEFORE</a:t>
            </a:r>
            <a:endParaRPr lang="en-US" sz="1150" dirty="0"/>
          </a:p>
          <a:p>
            <a:pPr marL="228600" indent="-228600">
              <a:lnSpc>
                <a:spcPct val="130000"/>
              </a:lnSpc>
              <a:buSzPct val="100000"/>
              <a:buChar char="▪"/>
            </a:pPr>
            <a:r>
              <a:rPr lang="en-US" sz="11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210 total false alarms AFTER — but recall dropped</a:t>
            </a:r>
            <a:endParaRPr lang="en-US" sz="1150" dirty="0"/>
          </a:p>
          <a:p>
            <a:pPr marL="228600" indent="-228600">
              <a:lnSpc>
                <a:spcPct val="130000"/>
              </a:lnSpc>
              <a:buSzPct val="100000"/>
              <a:buChar char="▪"/>
            </a:pPr>
            <a:r>
              <a:rPr lang="en-US" sz="11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precision or recall matters more for QUARANTINE_NODE is a real, open policy question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TRUST-TIER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Levels of Earned Autonomy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should not be trusted with high-stakes pipeline actions from day one. Trust is earned, tier by tier, and can be taken away instantly.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4480560"/>
            <a:ext cx="2606040" cy="822960"/>
          </a:xfrm>
          <a:prstGeom prst="roundRect">
            <a:avLst>
              <a:gd name="adj" fmla="val 6667"/>
            </a:avLst>
          </a:prstGeom>
          <a:solidFill>
            <a:srgbClr val="9AA6C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55371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54132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Only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57607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watches and logs — never acts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370332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6C8FD1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377647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74720" y="54132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74720" y="57607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suggests; a human approves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292608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3E6BC0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9992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09360" y="54132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with Rollback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09360" y="57607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acts; the action can be undone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52560" y="2148840"/>
            <a:ext cx="2606040" cy="3154680"/>
          </a:xfrm>
          <a:prstGeom prst="roundRect">
            <a:avLst>
              <a:gd name="adj" fmla="val 2105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560" y="22219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144000" y="54132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Autonomously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44000" y="57607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Highest-stakes actions, no human step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TRUST-TIER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Promotion Backed by Real Statistics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accuracy ("17/20 = 85%") isn't safe to promote on — 20 samples could really mean 65%-95% true accuracy. Promotion is gated on the Wilson lower-bound instead: the worst accuracy still consistent with the evidence, at 95% confidence.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141B49"/>
          </a:solidFill>
          <a:ln/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45059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wilson_lower_bound(k, n, z=1.96):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72491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(centre - spread) / denom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31272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D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17/20 → floor ~0.64 (not enough)   |   850/1000 → floor ~0.83 (enough)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80760" y="2331720"/>
            <a:ext cx="5532120" cy="1234440"/>
          </a:xfrm>
          <a:prstGeom prst="roundRect">
            <a:avLst>
              <a:gd name="adj" fmla="val 6667"/>
            </a:avLst>
          </a:prstGeom>
          <a:solidFill>
            <a:srgbClr val="FFF7EC"/>
          </a:solidFill>
          <a:ln w="12700">
            <a:solidFill>
              <a:srgbClr val="F0D6A8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81928" y="2459736"/>
            <a:ext cx="5129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Demotion is instant and asymmetric: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81928" y="2752344"/>
            <a:ext cx="51297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missed REAL_BUG acted on autonomously drops the agent one tier immediately - no averaging, no waiting.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— replaying 10,513 real test decisions through the live engine: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42AC709-03DF-EC29-F636-8EAB3B1CD9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88820" y="4047240"/>
            <a:ext cx="7932420" cy="25638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TRUST-TIER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Classification to Pipeline 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pure, fully unit-tested decision function — no side effects — turns a class + trust tier into a concrete action.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7315200" cy="24841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Min. tier to act alone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ALLOW_MERGE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T2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INFRA_FLAKE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AUTO_RETRY_PIPELINE (budgeted)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T2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DATA_FAULT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ESCALATE_TO_INFRA — never retry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T1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ENV_FAULT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QUARANTINE_NODE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T3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REAL_BUG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BLOCK_MERGE_ALERT_DEV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83A"/>
                          </a:solidFill>
                        </a:rPr>
                        <a:t>T1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72000"/>
            <a:ext cx="7315200" cy="1417320"/>
          </a:xfrm>
          <a:prstGeom prst="roundRect">
            <a:avLst>
              <a:gd name="adj" fmla="val 5806"/>
            </a:avLst>
          </a:prstGeom>
          <a:solidFill>
            <a:srgbClr val="FFF7EC"/>
          </a:solidFill>
          <a:ln w="12700">
            <a:solidFill>
              <a:srgbClr val="F0D6A8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9808" y="4700016"/>
            <a:ext cx="6912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pure function?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4992624"/>
            <a:ext cx="69128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I/O, no side effects, no model calls inside it — the decision engine only decides, an actuator executes separately. That separation is what makes the trust tiers meaningful, and it is why this logic is trivial to unit test exhaustively.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503920" y="1965960"/>
            <a:ext cx="3063240" cy="4206240"/>
          </a:xfrm>
          <a:prstGeom prst="roundRect">
            <a:avLst>
              <a:gd name="adj" fmla="val 2687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732520" y="2148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expressed in Rego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732520" y="2606040"/>
            <a:ext cx="26517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0000"/>
              </a:lnSpc>
              <a:buSzPct val="100000"/>
              <a:buChar char="▪"/>
            </a:pPr>
            <a:r>
              <a:rPr lang="en-US" sz="11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rules, written for Open Policy Agent (OPA) — the industry-standard policy language</a:t>
            </a:r>
            <a:endParaRPr lang="en-US" sz="1150" dirty="0"/>
          </a:p>
          <a:p>
            <a:pPr marL="228600" indent="-228600">
              <a:lnSpc>
                <a:spcPct val="130000"/>
              </a:lnSpc>
              <a:buSzPct val="100000"/>
              <a:buChar char="▪"/>
            </a:pPr>
            <a:r>
              <a:rPr lang="en-US" sz="11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the decision run inside a CI step directly, outside Python</a:t>
            </a:r>
            <a:endParaRPr lang="en-US" sz="1150" dirty="0"/>
          </a:p>
          <a:p>
            <a:pPr marL="228600" indent="-228600">
              <a:lnSpc>
                <a:spcPct val="130000"/>
              </a:lnSpc>
              <a:buSzPct val="100000"/>
              <a:buChar char="▪"/>
            </a:pPr>
            <a:r>
              <a:rPr lang="en-US" sz="11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agreement with the Python logic by an automated equivalence test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ROOT-CAUSE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Pointing at the Exact Cause, Not Just Pass/Fail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classification alone still leaves a developer hunting through dozens of operations. This module ranks every span in a failing trace by how suspicious it looks.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13055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1305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697480"/>
            <a:ext cx="3236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3063240"/>
            <a:ext cx="32369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normal duration (mean, std) for every op — from 2,110,221 events in healthy PASS traces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196596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62272" y="213055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462272" y="21305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62272" y="2697480"/>
            <a:ext cx="3236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62272" y="3063240"/>
            <a:ext cx="32369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(duration - mean) / std, plus a bonus if the span's own status is an error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196596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11312" y="213055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11312" y="21305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11312" y="2697480"/>
            <a:ext cx="3236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11312" y="3063240"/>
            <a:ext cx="32369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every span by score, descending — the top is the best place to look first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141B49"/>
          </a:solidFill>
          <a:ln/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(duration - baseline_mean) / baseline_std      # how abnormal is the timing?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4727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 = status not in ("OK", "USER")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511149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max(z, 0) + (2.0 if err else 0.0) + 0.25 * depth_bonus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ROOT-CAUSE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Beats Random and Slowest-Span Baselines, Decisively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localization accuracy across 10,411 test-set traces with a real, observable error span:</a:t>
            </a:r>
            <a:endParaRPr lang="en-US" sz="13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20240"/>
          <a:ext cx="7680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275320" y="1920240"/>
            <a:ext cx="3291840" cy="4251960"/>
          </a:xfrm>
          <a:prstGeom prst="roundRect">
            <a:avLst>
              <a:gd name="adj" fmla="val 2500"/>
            </a:avLst>
          </a:prstGeom>
          <a:solidFill>
            <a:srgbClr val="FFF7EC"/>
          </a:solidFill>
          <a:ln w="12700">
            <a:solidFill>
              <a:srgbClr val="F0D6A8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76488" y="2048256"/>
            <a:ext cx="2889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honestly: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476488" y="2340864"/>
            <a:ext cx="2889504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DATA_FAULT localization (0.26 top-1) is the weak spot — far better than guessing, but not yet reliable enough to skip a human double-check.</a:t>
            </a:r>
            <a:endParaRPr lang="en-US" sz="1250" dirty="0"/>
          </a:p>
          <a:p>
            <a:pPr marL="0" indent="0">
              <a:lnSpc>
                <a:spcPct val="122000"/>
              </a:lnSpc>
              <a:buNone/>
            </a:pPr>
            <a:endParaRPr lang="en-US" sz="12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for a real DATA_FAULT trace, the top suspect chooseDataNode ran ~5 standard deviations slower than baseline.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REPORTED PLAINLY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— Not Hidden, By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1's biggest failure was a single accuracy number (88.18%) that hid a broken model . Every known weakness here is stated the same way that mistake should have been caught.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3035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0000"/>
              </a:lnSpc>
              <a:buSzPct val="100000"/>
              <a:buChar char="▪"/>
            </a:pPr>
            <a:r>
              <a:rPr lang="en-US" sz="13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ENV_FAULT remains the hardest class (F1 = 0.48)</a:t>
            </a:r>
            <a:endParaRPr lang="en-US" sz="1350" dirty="0"/>
          </a:p>
          <a:p>
            <a:pPr marL="228600" indent="-228600">
              <a:lnSpc>
                <a:spcPct val="130000"/>
              </a:lnSpc>
              <a:buSzPct val="100000"/>
              <a:buChar char="▪"/>
            </a:pPr>
            <a:r>
              <a:rPr lang="en-US" sz="13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precision/recall trade-off is real and not yet fully resolved</a:t>
            </a:r>
            <a:endParaRPr lang="en-US" sz="1350" dirty="0"/>
          </a:p>
          <a:p>
            <a:pPr marL="228600" indent="-228600">
              <a:lnSpc>
                <a:spcPct val="130000"/>
              </a:lnSpc>
              <a:buSzPct val="100000"/>
              <a:buChar char="▪"/>
            </a:pPr>
            <a:r>
              <a:rPr lang="en-US" sz="13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traces (multi-fault) still mostly classified PASS</a:t>
            </a:r>
            <a:endParaRPr lang="en-US" sz="1350" dirty="0"/>
          </a:p>
          <a:p>
            <a:pPr marL="228600" indent="-228600">
              <a:lnSpc>
                <a:spcPct val="130000"/>
              </a:lnSpc>
              <a:buSzPct val="100000"/>
              <a:buChar char="▪"/>
            </a:pPr>
            <a:r>
              <a:rPr lang="en-US" sz="13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78% of the time — held out deliberately as a generalisation probe</a:t>
            </a:r>
            <a:endParaRPr lang="en-US" sz="1350" dirty="0"/>
          </a:p>
          <a:p>
            <a:pPr marL="228600" indent="-228600">
              <a:lnSpc>
                <a:spcPct val="130000"/>
              </a:lnSpc>
              <a:buSzPct val="100000"/>
              <a:buChar char="▪"/>
            </a:pPr>
            <a:r>
              <a:rPr lang="en-US" sz="13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DATA_FAULT root-cause localization is weaker</a:t>
            </a:r>
            <a:endParaRPr lang="en-US" sz="1350" dirty="0"/>
          </a:p>
          <a:p>
            <a:pPr marL="228600" indent="-228600">
              <a:lnSpc>
                <a:spcPct val="130000"/>
              </a:lnSpc>
              <a:buSzPct val="100000"/>
              <a:buChar char="▪"/>
            </a:pPr>
            <a:r>
              <a:rPr lang="en-US" sz="13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 top-1 vs 0.59-0.82 for other classes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0" y="228600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0000"/>
              </a:lnSpc>
              <a:buSzPct val="100000"/>
              <a:buChar char="▪"/>
            </a:pPr>
            <a:r>
              <a:rPr lang="en-US" sz="13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weights have partly collapsed</a:t>
            </a:r>
            <a:endParaRPr lang="en-US" sz="1350" dirty="0"/>
          </a:p>
          <a:p>
            <a:pPr marL="228600" indent="-228600">
              <a:lnSpc>
                <a:spcPct val="130000"/>
              </a:lnSpc>
              <a:buSzPct val="100000"/>
              <a:buChar char="▪"/>
            </a:pPr>
            <a:r>
              <a:rPr lang="en-US" sz="13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spans from /triage are not yet fully reliable (postmortem uses a separate, unaffected method)</a:t>
            </a:r>
            <a:endParaRPr lang="en-US" sz="1350" dirty="0"/>
          </a:p>
          <a:p>
            <a:pPr marL="228600" indent="-228600">
              <a:lnSpc>
                <a:spcPct val="130000"/>
              </a:lnSpc>
              <a:buSzPct val="100000"/>
              <a:buChar char="▪"/>
            </a:pPr>
            <a:r>
              <a:rPr lang="en-US" sz="13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order carries little extra signal</a:t>
            </a:r>
            <a:endParaRPr lang="en-US" sz="1350" dirty="0"/>
          </a:p>
          <a:p>
            <a:pPr marL="228600" indent="-228600">
              <a:lnSpc>
                <a:spcPct val="130000"/>
              </a:lnSpc>
              <a:buSzPct val="100000"/>
              <a:buChar char="▪"/>
            </a:pPr>
            <a:r>
              <a:rPr lang="en-US" sz="13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order-free baseline performs almost as well — reported as a genuine finding, not hidden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FF7EC"/>
          </a:solidFill>
          <a:ln w="12700">
            <a:solidFill>
              <a:srgbClr val="F0D6A8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4837176"/>
            <a:ext cx="10661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discipline the whole project is built on: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5129784"/>
            <a:ext cx="106619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hid a broken model behind one accuracy number . Every number and weakness in this review is reported the way that one should have been.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 - Scoped for What We Can Finish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workstreams, deliberately scoped down from heavy infrastructure to a lightweight version that proves the same idea: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301752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Planned piece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Lightweight version chosen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83A"/>
                          </a:solidFill>
                        </a:rPr>
                        <a:t>Observability (live tracing)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83A"/>
                          </a:solidFill>
                        </a:rPr>
                        <a:t>Adapter converting Jaeger/OpenTelemetry traces into the format this model already reads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83A"/>
                          </a:solidFill>
                        </a:rPr>
                        <a:t>Security / CVE scanning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83A"/>
                          </a:solidFill>
                        </a:rPr>
                        <a:t>pip-audit for known vulnerabilities + a simple reachability check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83A"/>
                          </a:solidFill>
                        </a:rPr>
                        <a:t>Chaos Engineering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83A"/>
                          </a:solidFill>
                        </a:rPr>
                        <a:t>A plain fault-injection script feeding the trust engine's already-proven demotion path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83A"/>
                          </a:solidFill>
                        </a:rPr>
                        <a:t>CI Actuator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2283A"/>
                          </a:solidFill>
                        </a:rPr>
                        <a:t>One GitHub Actions workflow calling the live API, posting the decision as a PR comment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9496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FF7EC"/>
          </a:solidFill>
          <a:ln w="12700">
            <a:solidFill>
              <a:srgbClr val="F0D6A8"/>
            </a:solidFill>
            <a:prstDash val="solid"/>
          </a:ln>
          <a:effectLst>
            <a:outerShdw blurRad="127000" dist="38100" dir="5400000" algn="bl" rotWithShape="0">
              <a:srgbClr val="8CA0C7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9808" y="5522976"/>
            <a:ext cx="10661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is a scope cut in disguise: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5815584"/>
            <a:ext cx="10661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substitute proves the same idea the original heavy-infrastructure plan promised, at a fraction of the deployment risk for a 3-person team.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57200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18  ·  Autonomous AI-Augmented CI/CD Pipeline with Adaptive Trust-Tiering and Chaos Engineering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2235</Words>
  <Application>Microsoft Office PowerPoint</Application>
  <PresentationFormat>Custom</PresentationFormat>
  <Paragraphs>332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Praveen kumar</cp:lastModifiedBy>
  <cp:revision>2</cp:revision>
  <dcterms:created xsi:type="dcterms:W3CDTF">2026-09-13T15:39:24Z</dcterms:created>
  <dcterms:modified xsi:type="dcterms:W3CDTF">2026-09-13T16:19:17Z</dcterms:modified>
</cp:coreProperties>
</file>