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0CF8E6-9389-4A1E-9BD3-E87C83386701}" type="datetimeFigureOut">
              <a:rPr lang="en-IN" smtClean="0"/>
              <a:t>25-10-2026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4A395E-0A88-44A1-ABE4-7F66886D4F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82982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Welcome. This is the final review of our project: an AI agent that triages failed CI/CD runs and decides how much it may do on its own.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4A395E-0A88-44A1-ABE4-7F66886D4FF4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13212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Review 1 reported 88 percent, which turned out to be a one-column rule. Review 2 rebuilt the foundation. The final phase made it a runnable, measured, honest system.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4A395E-0A88-44A1-ABE4-7F66886D4FF4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40419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On a dashboard they are all a red run, but the right response differs completely. Retrying a corruption wastes time. Merging a bug ships it.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4A395E-0A88-44A1-ABE4-7F66886D4FF4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12456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Traces come in, are normalised and checked, classified, combined with security and canary signals, and the decision is executed in dry-run mode. The true outcome flows back to the trust engine.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4A395E-0A88-44A1-ABE4-7F66886D4FF4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703075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TraceBench HDFS. The hosts disagree on time, so we recover each host's offset from the parent-child edge records. We split by scenario so the test set measures generalisation.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4A395E-0A88-44A1-ABE4-7F66886D4FF4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265956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Instead of keeping only the last state, attention lets every span contribute with a learned weight. The weights also tell us which spans drove the decision.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4A395E-0A88-44A1-ABE4-7F66886D4FF4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451133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We re-implemented four published architectures and trained them on our split with the same recipe. Our model reaches 0.7464; the best competitor is DeepLog-style LSTM given the same inputs as ours at 0.7672. These are re-implementations, one run each, and the papers report on other data, so this is a like-for-like comparison on our data, not a comparison with the papers' own numbers.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4A395E-0A88-44A1-ABE4-7F66886D4FF4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315472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Fairness points: same split, seed, optimiser, class weights, early stopping. The span-and-timing model is included so we can see how much of any advantage is just richer input.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4A395E-0A88-44A1-ABE4-7F66886D4FF4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356792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Our model beats the count-based representation Phase 1 used by a wide margin, and the strongest order-free baseline by about four points.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4A395E-0A88-44A1-ABE4-7F66886D4FF4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138661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These are the three things we do not want the panel to discover on their own.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4A395E-0A88-44A1-ABE4-7F66886D4FF4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712127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Promotion needs the Wilson lower bound of accuracy to clear a threshold on fresh evidence. A single missed real defect that was acted on autonomously costs a tier immediately.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4A395E-0A88-44A1-ABE4-7F66886D4FF4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935402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Security first, then canary, then abstain-if-unfamiliar, then the triage decision. The tier then decides who may execute it.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4A395E-0A88-44A1-ABE4-7F66886D4FF4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531347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 agent starts with no autonomy, earns T3, is wrong on the silent bug, loses autonomy, and regains it only through new evidence. 362 of 390 correct.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4A395E-0A88-44A1-ABE4-7F66886D4FF4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060809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Start with python scripts/serve_ui.py. The strip along the top is the whole pipeline. Fault buttons inject real faults; the tier chart moves live.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4A395E-0A88-44A1-ABE4-7F66886D4FF4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461569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 model only understands HDFS traces in the training schema. Rather than guess elsewhere, the gate abstains.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4A395E-0A88-44A1-ABE4-7F66886D4FF4}" type="slidenum">
              <a:rPr lang="en-IN" smtClean="0"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589403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Several of our best results were bugs we found because we measured.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4A395E-0A88-44A1-ABE4-7F66886D4FF4}" type="slidenum">
              <a:rPr lang="en-IN" smtClean="0"/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233687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We state these ourselves. The future work follows directly from the limitations.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4A395E-0A88-44A1-ABE4-7F66886D4FF4}" type="slidenum">
              <a:rPr lang="en-IN" smtClean="0"/>
              <a:t>17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362841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Close on the main idea: autonomy should be earned from evidence, and every limit should be measured.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4A395E-0A88-44A1-ABE4-7F66886D4FF4}" type="slidenum">
              <a:rPr lang="en-IN" smtClean="0"/>
              <a:t>18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44891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0B8F82-76C9-77C1-0F0D-22D02310B9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C5B2FC4-64F4-A8AE-CADF-8C720D80DD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423E0C-2B46-F4BE-C607-F6B2E85A3B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DB522-5FF0-43CA-9129-402F902AB53A}" type="datetimeFigureOut">
              <a:rPr lang="en-IN" smtClean="0"/>
              <a:t>25-10-2026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FD5C59-1636-282D-62E0-F573BA5182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924509-9A56-C3A6-2A3E-18C4EDE2F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DE7D3-EBFD-48DE-8369-8C89DE51FB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65486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F88F31-5AD7-0DC8-1E8D-E7A6BC14DC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B81ADB-9BC2-1151-F0A7-C6863BB28D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A2DB49-191C-2E1D-36A7-7CFA72CBB9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DB522-5FF0-43CA-9129-402F902AB53A}" type="datetimeFigureOut">
              <a:rPr lang="en-IN" smtClean="0"/>
              <a:t>25-10-2026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CE6DEA-86F5-D17B-555D-0DF046CBD4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81CFE8-E3B8-C5FF-91C8-3199267A5A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DE7D3-EBFD-48DE-8369-8C89DE51FB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66950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9D4AA0-356D-0AB4-3FB3-1DF1969902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D3C851-2D73-6BA0-2CB1-211B19F6A1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2B6FD7-3689-9257-D5A9-B31B420142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DB522-5FF0-43CA-9129-402F902AB53A}" type="datetimeFigureOut">
              <a:rPr lang="en-IN" smtClean="0"/>
              <a:t>25-10-2026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7DD2EE-1A3E-628A-86A8-0FCE7B0706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A32B02-A994-594C-C475-13277120B7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DE7D3-EBFD-48DE-8369-8C89DE51FB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35537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8D5A-871C-73AB-CE45-67762ABD91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5C7C1E-1D3D-6669-F137-C50EC25357C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5D8057-C511-CB69-F532-44048AC8EE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60679F-FF7E-F600-3B65-53B67FDEE4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DB522-5FF0-43CA-9129-402F902AB53A}" type="datetimeFigureOut">
              <a:rPr lang="en-IN" smtClean="0"/>
              <a:t>25-10-2026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4B71D2-E331-5B93-1A95-2E2FE47AEE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8D72DD-BBFB-B815-4BFC-3AC667910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DE7D3-EBFD-48DE-8369-8C89DE51FB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00874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AC6A0E-B5E3-B7A4-E14E-FFDB87A5A1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2B4129-3374-CD38-6264-E79BB326B8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072EA1-475F-32B4-349F-58DA98D47A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9E5CD8F-B468-69D9-6E88-76AA1A397E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6669373-4784-524B-38F5-4CEB835AD08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BE9052-A403-08A4-D677-3A6AAAB7E7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DB522-5FF0-43CA-9129-402F902AB53A}" type="datetimeFigureOut">
              <a:rPr lang="en-IN" smtClean="0"/>
              <a:t>25-10-2026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3D5416F-EC84-E0D3-02AC-F0A0E5F886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A563A23-F838-AD59-26CD-97AD46AC1C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DE7D3-EBFD-48DE-8369-8C89DE51FB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59861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491AB0-FA56-7C69-E822-977BB42745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F7FFB84-8267-32B4-6E95-2AE65A40B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DB522-5FF0-43CA-9129-402F902AB53A}" type="datetimeFigureOut">
              <a:rPr lang="en-IN" smtClean="0"/>
              <a:t>25-10-2026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803E6E-DFEC-0E17-06C4-8921A31A4C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BE25A3C-9973-15A3-89F5-E475BFD947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DE7D3-EBFD-48DE-8369-8C89DE51FB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5502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4DE086F-5F6F-94C2-F510-EF78030F61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DB522-5FF0-43CA-9129-402F902AB53A}" type="datetimeFigureOut">
              <a:rPr lang="en-IN" smtClean="0"/>
              <a:t>25-10-2026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E624226-467F-55F0-C4DB-14EA7D86E7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ECB743-0D46-4B54-F1FE-A046B1D031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DE7D3-EBFD-48DE-8369-8C89DE51FB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78356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A9D293-82A4-35C7-9CE5-98DEC9085F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6DD10B-C737-57B3-2A88-2169E497DD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30F99E-D70E-82C8-12F9-DCBF61A384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3397FA-000F-ED39-8DAA-C5D0DC83BE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DB522-5FF0-43CA-9129-402F902AB53A}" type="datetimeFigureOut">
              <a:rPr lang="en-IN" smtClean="0"/>
              <a:t>25-10-2026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F20A37-CF1A-8D6E-9308-62F785BA05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3E0AB4-A817-3384-21F9-22F5AF6E56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DE7D3-EBFD-48DE-8369-8C89DE51FB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81124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CB5133-2017-1075-02C2-25323C03A1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DDFDFBE-F835-E724-2EB7-89865C51E2E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727B6C-4E7C-04A3-2CE4-5B85B05D9D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028843-A7FB-B6AD-DBBA-FAB4956CEF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DB522-5FF0-43CA-9129-402F902AB53A}" type="datetimeFigureOut">
              <a:rPr lang="en-IN" smtClean="0"/>
              <a:t>25-10-2026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AE8D05-5963-C7CC-CF8D-5D65B54C7E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F5BF60-D0CE-8EAF-A5AA-72084F40D3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DE7D3-EBFD-48DE-8369-8C89DE51FB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57190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199DD9-CF16-4442-A08E-92FB53DDD9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5E0DE66-7C9C-DBE3-3189-2670F64BA3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552571-4630-E3EA-D4BB-DC8C8E242C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DB522-5FF0-43CA-9129-402F902AB53A}" type="datetimeFigureOut">
              <a:rPr lang="en-IN" smtClean="0"/>
              <a:t>25-10-2026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9BBF55-E308-DEA9-5970-FDEF19EA6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BEC243-DD1C-F92F-4AF7-4ECBB65128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DE7D3-EBFD-48DE-8369-8C89DE51FB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75300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1C4FA2C-5D06-B07B-7D76-23884559ED6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7C4CCCA-A533-5BE8-3AA0-21DFEB9DD1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1E332B-39BF-454C-CB22-D7C79296CD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DB522-5FF0-43CA-9129-402F902AB53A}" type="datetimeFigureOut">
              <a:rPr lang="en-IN" smtClean="0"/>
              <a:t>25-10-2026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6168B4-D2D1-9CC5-1BC2-90FD7FB7D5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BD1C94-8DCB-6004-7B7F-3D27D144D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DE7D3-EBFD-48DE-8369-8C89DE51FB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87299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C252EED-F55C-61E1-1A2A-4D590DB96C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14801C-A6C3-C4AE-C0E0-4D74C34EAA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152F96-3D96-307F-DAEF-FCF7A67C0CD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DDB522-5FF0-43CA-9129-402F902AB53A}" type="datetimeFigureOut">
              <a:rPr lang="en-IN" smtClean="0"/>
              <a:t>25-10-2026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1F6125-0B60-78FC-5DE0-FA14F18C41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6DF21C-47A1-9DCC-E0AE-D63A98F27A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9DE7D3-EBFD-48DE-8369-8C89DE51FB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57338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4C41C41-E4AB-6981-7C0D-1794885666F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6325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E001A92-8741-C53B-7C05-C9A373D4FB38}"/>
              </a:ext>
            </a:extLst>
          </p:cNvPr>
          <p:cNvSpPr/>
          <p:nvPr/>
        </p:nvSpPr>
        <p:spPr>
          <a:xfrm>
            <a:off x="762000" y="3810000"/>
            <a:ext cx="1524000" cy="63500"/>
          </a:xfrm>
          <a:prstGeom prst="rect">
            <a:avLst/>
          </a:prstGeom>
          <a:solidFill>
            <a:srgbClr val="00808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1D6237C-C331-2F89-F616-28D64E096B74}"/>
              </a:ext>
            </a:extLst>
          </p:cNvPr>
          <p:cNvSpPr txBox="1"/>
          <p:nvPr/>
        </p:nvSpPr>
        <p:spPr>
          <a:xfrm>
            <a:off x="762000" y="504448"/>
            <a:ext cx="10668000" cy="1261884"/>
          </a:xfrm>
          <a:prstGeom prst="rect">
            <a:avLst/>
          </a:prstGeom>
          <a:noFill/>
        </p:spPr>
        <p:txBody>
          <a:bodyPr vert="horz" wrap="square" lIns="50800" rIns="50800" rtlCol="0" anchor="b">
            <a:spAutoFit/>
          </a:bodyPr>
          <a:lstStyle/>
          <a:p>
            <a:r>
              <a:rPr lang="en-US" sz="3800" b="1">
                <a:solidFill>
                  <a:srgbClr val="FFFFFF"/>
                </a:solidFill>
                <a:latin typeface="Calibri" panose="020F0502020204030204" pitchFamily="34" charset="0"/>
              </a:rPr>
              <a:t>Autonomous AI-Augmented CI/CD Pipeline with Adaptive Trust-Tiering and Chaos Engineering</a:t>
            </a:r>
            <a:endParaRPr lang="en-IN" sz="3800" b="1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A88920E-B844-4624-2526-6E47E236E101}"/>
              </a:ext>
            </a:extLst>
          </p:cNvPr>
          <p:cNvSpPr txBox="1"/>
          <p:nvPr/>
        </p:nvSpPr>
        <p:spPr>
          <a:xfrm>
            <a:off x="762000" y="4064000"/>
            <a:ext cx="10668000" cy="461665"/>
          </a:xfrm>
          <a:prstGeom prst="rect">
            <a:avLst/>
          </a:prstGeom>
          <a:noFill/>
        </p:spPr>
        <p:txBody>
          <a:bodyPr vert="horz" wrap="square" lIns="50800" rIns="50800" rtlCol="0" anchor="t">
            <a:spAutoFit/>
          </a:bodyPr>
          <a:lstStyle/>
          <a:p>
            <a:r>
              <a:rPr lang="en-IN" sz="2400">
                <a:solidFill>
                  <a:srgbClr val="FFFFFF"/>
                </a:solidFill>
                <a:latin typeface="Calibri" panose="020F0502020204030204" pitchFamily="34" charset="0"/>
              </a:rPr>
              <a:t>Final Review  ·  Team 18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875F946-87AC-D970-7CC0-47FA727E4BA9}"/>
              </a:ext>
            </a:extLst>
          </p:cNvPr>
          <p:cNvSpPr txBox="1"/>
          <p:nvPr/>
        </p:nvSpPr>
        <p:spPr>
          <a:xfrm>
            <a:off x="762000" y="4597400"/>
            <a:ext cx="10668000" cy="381000"/>
          </a:xfrm>
          <a:prstGeom prst="rect">
            <a:avLst/>
          </a:prstGeom>
          <a:noFill/>
        </p:spPr>
        <p:txBody>
          <a:bodyPr vert="horz" wrap="square" lIns="50800" rIns="50800" rtlCol="0" anchor="t">
            <a:spAutoFit/>
          </a:bodyPr>
          <a:lstStyle/>
          <a:p>
            <a:r>
              <a:rPr lang="nl-NL">
                <a:solidFill>
                  <a:srgbClr val="FFFFFF"/>
                </a:solidFill>
                <a:latin typeface="Calibri" panose="020F0502020204030204" pitchFamily="34" charset="0"/>
              </a:rPr>
              <a:t>Praveen Kumar C  ·  Jaiprakash S  ·  Dharshini T</a:t>
            </a:r>
            <a:endParaRPr lang="en-IN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4740DC7-9CB0-913E-FDB9-1DEFDCD4E6E5}"/>
              </a:ext>
            </a:extLst>
          </p:cNvPr>
          <p:cNvSpPr txBox="1"/>
          <p:nvPr/>
        </p:nvSpPr>
        <p:spPr>
          <a:xfrm>
            <a:off x="762000" y="5029200"/>
            <a:ext cx="10668000" cy="338554"/>
          </a:xfrm>
          <a:prstGeom prst="rect">
            <a:avLst/>
          </a:prstGeom>
          <a:noFill/>
        </p:spPr>
        <p:txBody>
          <a:bodyPr vert="horz" wrap="square" lIns="50800" rIns="50800" rtlCol="0" anchor="t">
            <a:spAutoFit/>
          </a:bodyPr>
          <a:lstStyle/>
          <a:p>
            <a:r>
              <a:rPr lang="en-US" sz="1600">
                <a:solidFill>
                  <a:srgbClr val="FFFFFF"/>
                </a:solidFill>
                <a:latin typeface="Calibri" panose="020F0502020204030204" pitchFamily="34" charset="0"/>
              </a:rPr>
              <a:t>Guide: Dr. P. Anandha Kumar  ·  Department of Information Technology, MIT, Anna University</a:t>
            </a:r>
            <a:endParaRPr lang="en-IN" sz="1600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68637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E7A8A55-24F3-D6A8-10F4-01179D3C646B}"/>
              </a:ext>
            </a:extLst>
          </p:cNvPr>
          <p:cNvSpPr/>
          <p:nvPr/>
        </p:nvSpPr>
        <p:spPr>
          <a:xfrm>
            <a:off x="0" y="0"/>
            <a:ext cx="12192000" cy="812800"/>
          </a:xfrm>
          <a:prstGeom prst="rect">
            <a:avLst/>
          </a:prstGeom>
          <a:solidFill>
            <a:srgbClr val="16325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BBDF9C8-45AE-A7E5-0614-7076F5549E0A}"/>
              </a:ext>
            </a:extLst>
          </p:cNvPr>
          <p:cNvSpPr txBox="1"/>
          <p:nvPr/>
        </p:nvSpPr>
        <p:spPr>
          <a:xfrm>
            <a:off x="457200" y="65445"/>
            <a:ext cx="11277600" cy="492443"/>
          </a:xfrm>
          <a:prstGeom prst="rect">
            <a:avLst/>
          </a:prstGeom>
          <a:noFill/>
        </p:spPr>
        <p:txBody>
          <a:bodyPr vert="horz" wrap="square" lIns="50800" rIns="50800" rtlCol="0" anchor="ctr">
            <a:spAutoFit/>
          </a:bodyPr>
          <a:lstStyle/>
          <a:p>
            <a:r>
              <a:rPr lang="en-US" sz="2600" b="1">
                <a:solidFill>
                  <a:srgbClr val="FFFFFF"/>
                </a:solidFill>
                <a:latin typeface="Calibri" panose="020F0502020204030204" pitchFamily="34" charset="0"/>
              </a:rPr>
              <a:t>Where we started, and what the final phase added</a:t>
            </a:r>
            <a:endParaRPr lang="en-IN" sz="2600" b="1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4EB235E-1C9F-CAF7-650E-50CA2D06D2C5}"/>
              </a:ext>
            </a:extLst>
          </p:cNvPr>
          <p:cNvSpPr/>
          <p:nvPr/>
        </p:nvSpPr>
        <p:spPr>
          <a:xfrm>
            <a:off x="0" y="812800"/>
            <a:ext cx="12192000" cy="50800"/>
          </a:xfrm>
          <a:prstGeom prst="rect">
            <a:avLst/>
          </a:prstGeom>
          <a:solidFill>
            <a:srgbClr val="00808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99B6226-71E7-A18A-32C9-0195139BA06B}"/>
              </a:ext>
            </a:extLst>
          </p:cNvPr>
          <p:cNvSpPr txBox="1"/>
          <p:nvPr/>
        </p:nvSpPr>
        <p:spPr>
          <a:xfrm>
            <a:off x="11430000" y="6477000"/>
            <a:ext cx="508000" cy="261610"/>
          </a:xfrm>
          <a:prstGeom prst="rect">
            <a:avLst/>
          </a:prstGeom>
          <a:noFill/>
        </p:spPr>
        <p:txBody>
          <a:bodyPr vert="horz" wrap="square" lIns="50800" rIns="50800" rtlCol="0" anchor="t">
            <a:spAutoFit/>
          </a:bodyPr>
          <a:lstStyle/>
          <a:p>
            <a:pPr algn="r"/>
            <a:r>
              <a:rPr lang="en-IN" sz="1100">
                <a:solidFill>
                  <a:srgbClr val="787878"/>
                </a:solidFill>
                <a:latin typeface="Calibri" panose="020F0502020204030204" pitchFamily="34" charset="0"/>
              </a:rPr>
              <a:t>2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CDE71E3-6ED7-49C6-3E22-447E81E62C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2509395"/>
              </p:ext>
            </p:extLst>
          </p:nvPr>
        </p:nvGraphicFramePr>
        <p:xfrm>
          <a:off x="508000" y="1270000"/>
          <a:ext cx="11176000" cy="355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81303">
                  <a:extLst>
                    <a:ext uri="{9D8B030D-6E8A-4147-A177-3AD203B41FA5}">
                      <a16:colId xmlns:a16="http://schemas.microsoft.com/office/drawing/2014/main" val="3406533930"/>
                    </a:ext>
                  </a:extLst>
                </a:gridCol>
                <a:gridCol w="5274067">
                  <a:extLst>
                    <a:ext uri="{9D8B030D-6E8A-4147-A177-3AD203B41FA5}">
                      <a16:colId xmlns:a16="http://schemas.microsoft.com/office/drawing/2014/main" val="3198274644"/>
                    </a:ext>
                  </a:extLst>
                </a:gridCol>
                <a:gridCol w="4520629">
                  <a:extLst>
                    <a:ext uri="{9D8B030D-6E8A-4147-A177-3AD203B41FA5}">
                      <a16:colId xmlns:a16="http://schemas.microsoft.com/office/drawing/2014/main" val="2875418275"/>
                    </a:ext>
                  </a:extLst>
                </a:gridCol>
              </a:tblGrid>
              <a:tr h="889000">
                <a:tc>
                  <a:txBody>
                    <a:bodyPr/>
                    <a:lstStyle/>
                    <a:p>
                      <a:r>
                        <a:rPr lang="en-IN" sz="1600" b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Review</a:t>
                      </a:r>
                    </a:p>
                  </a:txBody>
                  <a:tcPr marT="25400" marB="25400">
                    <a:solidFill>
                      <a:srgbClr val="1632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b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What we showed</a:t>
                      </a:r>
                    </a:p>
                  </a:txBody>
                  <a:tcPr marT="25400" marB="25400">
                    <a:solidFill>
                      <a:srgbClr val="1632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b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Honest limitation then</a:t>
                      </a:r>
                    </a:p>
                  </a:txBody>
                  <a:tcPr marT="25400" marB="25400">
                    <a:solidFill>
                      <a:srgbClr val="1632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6360018"/>
                  </a:ext>
                </a:extLst>
              </a:tr>
              <a:tr h="889000">
                <a:tc>
                  <a:txBody>
                    <a:bodyPr/>
                    <a:lstStyle/>
                    <a:p>
                      <a:r>
                        <a:rPr lang="en-IN" sz="1600" b="0">
                          <a:solidFill>
                            <a:srgbClr val="282828"/>
                          </a:solidFill>
                          <a:latin typeface="Calibri" panose="020F0502020204030204" pitchFamily="34" charset="0"/>
                        </a:rPr>
                        <a:t>Review 1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>
                          <a:solidFill>
                            <a:srgbClr val="282828"/>
                          </a:solidFill>
                          <a:latin typeface="Calibri" panose="020F0502020204030204" pitchFamily="34" charset="0"/>
                        </a:rPr>
                        <a:t>Phase 1 LSTM, reported 88.18%</a:t>
                      </a:r>
                      <a:endParaRPr lang="en-IN" sz="1600" b="0">
                        <a:solidFill>
                          <a:srgbClr val="282828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>
                          <a:solidFill>
                            <a:srgbClr val="282828"/>
                          </a:solidFill>
                          <a:latin typeface="Calibri" panose="020F0502020204030204" pitchFamily="34" charset="0"/>
                        </a:rPr>
                        <a:t>It equalled a one-column rule: counts fed in as token ids</a:t>
                      </a:r>
                      <a:endParaRPr lang="en-IN" sz="1600" b="0">
                        <a:solidFill>
                          <a:srgbClr val="282828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938910"/>
                  </a:ext>
                </a:extLst>
              </a:tr>
              <a:tr h="889000">
                <a:tc>
                  <a:txBody>
                    <a:bodyPr/>
                    <a:lstStyle/>
                    <a:p>
                      <a:r>
                        <a:rPr lang="en-IN" sz="1600" b="0">
                          <a:solidFill>
                            <a:srgbClr val="282828"/>
                          </a:solidFill>
                          <a:latin typeface="Calibri" panose="020F0502020204030204" pitchFamily="34" charset="0"/>
                        </a:rPr>
                        <a:t>Review 2</a:t>
                      </a:r>
                    </a:p>
                  </a:txBody>
                  <a:tcPr marT="25400" marB="25400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>
                          <a:solidFill>
                            <a:srgbClr val="282828"/>
                          </a:solidFill>
                          <a:latin typeface="Calibri" panose="020F0502020204030204" pitchFamily="34" charset="0"/>
                        </a:rPr>
                        <a:t>Clock-aligned data, attention BiLSTM, trust tiers, root-cause ranking</a:t>
                      </a:r>
                      <a:endParaRPr lang="en-IN" sz="1600" b="0">
                        <a:solidFill>
                          <a:srgbClr val="282828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T="25400" marB="25400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>
                          <a:solidFill>
                            <a:srgbClr val="282828"/>
                          </a:solidFill>
                          <a:latin typeface="Calibri" panose="020F0502020204030204" pitchFamily="34" charset="0"/>
                        </a:rPr>
                        <a:t>Offline only; one data set; no live system</a:t>
                      </a:r>
                      <a:endParaRPr lang="en-IN" sz="1600" b="0">
                        <a:solidFill>
                          <a:srgbClr val="282828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T="25400" marB="25400">
                    <a:solidFill>
                      <a:srgbClr val="F0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0538165"/>
                  </a:ext>
                </a:extLst>
              </a:tr>
              <a:tr h="889000">
                <a:tc>
                  <a:txBody>
                    <a:bodyPr/>
                    <a:lstStyle/>
                    <a:p>
                      <a:r>
                        <a:rPr lang="en-IN" sz="1600" b="0">
                          <a:solidFill>
                            <a:srgbClr val="282828"/>
                          </a:solidFill>
                          <a:latin typeface="Calibri" panose="020F0502020204030204" pitchFamily="34" charset="0"/>
                        </a:rPr>
                        <a:t>Final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>
                          <a:solidFill>
                            <a:srgbClr val="282828"/>
                          </a:solidFill>
                          <a:latin typeface="Calibri" panose="020F0502020204030204" pitchFamily="34" charset="0"/>
                        </a:rPr>
                        <a:t>Release gate (drift, canary, security, chaos, actuator), live system, dashboard, comparison with published models</a:t>
                      </a:r>
                      <a:endParaRPr lang="en-IN" sz="1600" b="0">
                        <a:solidFill>
                          <a:srgbClr val="282828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>
                          <a:solidFill>
                            <a:srgbClr val="282828"/>
                          </a:solidFill>
                          <a:latin typeface="Calibri" panose="020F0502020204030204" pitchFamily="34" charset="0"/>
                        </a:rPr>
                        <a:t>Workflows and Grafana stack written, not executed</a:t>
                      </a:r>
                      <a:endParaRPr lang="en-IN" sz="1600" b="0">
                        <a:solidFill>
                          <a:srgbClr val="282828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181856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89EB0A21-5A08-C328-2D10-646820DE1B66}"/>
              </a:ext>
            </a:extLst>
          </p:cNvPr>
          <p:cNvSpPr txBox="1"/>
          <p:nvPr/>
        </p:nvSpPr>
        <p:spPr>
          <a:xfrm>
            <a:off x="508000" y="5588000"/>
            <a:ext cx="11176000" cy="400110"/>
          </a:xfrm>
          <a:prstGeom prst="rect">
            <a:avLst/>
          </a:prstGeom>
          <a:noFill/>
        </p:spPr>
        <p:txBody>
          <a:bodyPr vert="horz" wrap="square" lIns="50800" rIns="50800" rtlCol="0" anchor="t">
            <a:spAutoFit/>
          </a:bodyPr>
          <a:lstStyle/>
          <a:p>
            <a:r>
              <a:rPr lang="en-US" sz="2000" b="1">
                <a:solidFill>
                  <a:srgbClr val="008080"/>
                </a:solidFill>
                <a:latin typeface="Calibri" panose="020F0502020204030204" pitchFamily="34" charset="0"/>
              </a:rPr>
              <a:t>Rule we followed: report weak numbers as plainly as strong ones.</a:t>
            </a:r>
            <a:endParaRPr lang="en-IN" sz="2000" b="1">
              <a:solidFill>
                <a:srgbClr val="00808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31278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3F511C1-9A0B-010A-092B-C24DF8E1DF6F}"/>
              </a:ext>
            </a:extLst>
          </p:cNvPr>
          <p:cNvSpPr/>
          <p:nvPr/>
        </p:nvSpPr>
        <p:spPr>
          <a:xfrm>
            <a:off x="0" y="0"/>
            <a:ext cx="12192000" cy="812800"/>
          </a:xfrm>
          <a:prstGeom prst="rect">
            <a:avLst/>
          </a:prstGeom>
          <a:solidFill>
            <a:srgbClr val="16325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F8B4E48-7DED-CFF8-2CBB-EBED680D283C}"/>
              </a:ext>
            </a:extLst>
          </p:cNvPr>
          <p:cNvSpPr txBox="1"/>
          <p:nvPr/>
        </p:nvSpPr>
        <p:spPr>
          <a:xfrm>
            <a:off x="457200" y="65445"/>
            <a:ext cx="11277600" cy="492443"/>
          </a:xfrm>
          <a:prstGeom prst="rect">
            <a:avLst/>
          </a:prstGeom>
          <a:noFill/>
        </p:spPr>
        <p:txBody>
          <a:bodyPr vert="horz" wrap="square" lIns="50800" rIns="50800" rtlCol="0" anchor="ctr">
            <a:spAutoFit/>
          </a:bodyPr>
          <a:lstStyle/>
          <a:p>
            <a:r>
              <a:rPr lang="en-US" sz="2600" b="1">
                <a:solidFill>
                  <a:srgbClr val="FFFFFF"/>
                </a:solidFill>
                <a:latin typeface="Calibri" panose="020F0502020204030204" pitchFamily="34" charset="0"/>
              </a:rPr>
              <a:t>The problem: four failures that look the same</a:t>
            </a:r>
            <a:endParaRPr lang="en-IN" sz="2600" b="1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F70A740-1804-CCC4-971D-3A61225D68A8}"/>
              </a:ext>
            </a:extLst>
          </p:cNvPr>
          <p:cNvSpPr/>
          <p:nvPr/>
        </p:nvSpPr>
        <p:spPr>
          <a:xfrm>
            <a:off x="0" y="812800"/>
            <a:ext cx="12192000" cy="50800"/>
          </a:xfrm>
          <a:prstGeom prst="rect">
            <a:avLst/>
          </a:prstGeom>
          <a:solidFill>
            <a:srgbClr val="00808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44428B1-03FF-7B52-18DC-387BD820121F}"/>
              </a:ext>
            </a:extLst>
          </p:cNvPr>
          <p:cNvSpPr txBox="1"/>
          <p:nvPr/>
        </p:nvSpPr>
        <p:spPr>
          <a:xfrm>
            <a:off x="11430000" y="6477000"/>
            <a:ext cx="508000" cy="261610"/>
          </a:xfrm>
          <a:prstGeom prst="rect">
            <a:avLst/>
          </a:prstGeom>
          <a:noFill/>
        </p:spPr>
        <p:txBody>
          <a:bodyPr vert="horz" wrap="square" lIns="50800" rIns="50800" rtlCol="0" anchor="t">
            <a:spAutoFit/>
          </a:bodyPr>
          <a:lstStyle/>
          <a:p>
            <a:pPr algn="r"/>
            <a:r>
              <a:rPr lang="en-IN" sz="1100">
                <a:solidFill>
                  <a:srgbClr val="787878"/>
                </a:solidFill>
                <a:latin typeface="Calibri" panose="020F0502020204030204" pitchFamily="34" charset="0"/>
              </a:rPr>
              <a:t>3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3F1F632-CE2A-3C93-9341-C1F1E35192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1302606"/>
              </p:ext>
            </p:extLst>
          </p:nvPr>
        </p:nvGraphicFramePr>
        <p:xfrm>
          <a:off x="508000" y="1397000"/>
          <a:ext cx="111760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91429">
                  <a:extLst>
                    <a:ext uri="{9D8B030D-6E8A-4147-A177-3AD203B41FA5}">
                      <a16:colId xmlns:a16="http://schemas.microsoft.com/office/drawing/2014/main" val="2071783610"/>
                    </a:ext>
                  </a:extLst>
                </a:gridCol>
                <a:gridCol w="1995714">
                  <a:extLst>
                    <a:ext uri="{9D8B030D-6E8A-4147-A177-3AD203B41FA5}">
                      <a16:colId xmlns:a16="http://schemas.microsoft.com/office/drawing/2014/main" val="198488317"/>
                    </a:ext>
                  </a:extLst>
                </a:gridCol>
                <a:gridCol w="3392714">
                  <a:extLst>
                    <a:ext uri="{9D8B030D-6E8A-4147-A177-3AD203B41FA5}">
                      <a16:colId xmlns:a16="http://schemas.microsoft.com/office/drawing/2014/main" val="3683285440"/>
                    </a:ext>
                  </a:extLst>
                </a:gridCol>
                <a:gridCol w="1796143">
                  <a:extLst>
                    <a:ext uri="{9D8B030D-6E8A-4147-A177-3AD203B41FA5}">
                      <a16:colId xmlns:a16="http://schemas.microsoft.com/office/drawing/2014/main" val="1155079597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r>
                        <a:rPr lang="en-US" sz="1700" b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The run failed because of...</a:t>
                      </a:r>
                      <a:endParaRPr lang="en-IN" sz="1700" b="1">
                        <a:solidFill>
                          <a:srgbClr val="FFFFFF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T="25400" marB="25400">
                    <a:solidFill>
                      <a:srgbClr val="1632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700" b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Class</a:t>
                      </a:r>
                    </a:p>
                  </a:txBody>
                  <a:tcPr marT="25400" marB="25400">
                    <a:solidFill>
                      <a:srgbClr val="1632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700" b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Right response</a:t>
                      </a:r>
                    </a:p>
                  </a:txBody>
                  <a:tcPr marT="25400" marB="25400">
                    <a:solidFill>
                      <a:srgbClr val="1632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700" b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Needs trust tier</a:t>
                      </a:r>
                    </a:p>
                  </a:txBody>
                  <a:tcPr marT="25400" marB="25400">
                    <a:solidFill>
                      <a:srgbClr val="1632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0003408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rPr lang="en-US" sz="1700" b="0">
                          <a:solidFill>
                            <a:srgbClr val="282828"/>
                          </a:solidFill>
                          <a:latin typeface="Calibri" panose="020F0502020204030204" pitchFamily="34" charset="0"/>
                        </a:rPr>
                        <a:t>A transient network or process fault</a:t>
                      </a:r>
                      <a:endParaRPr lang="en-IN" sz="1700" b="0">
                        <a:solidFill>
                          <a:srgbClr val="282828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700" b="0">
                          <a:solidFill>
                            <a:srgbClr val="282828"/>
                          </a:solidFill>
                          <a:latin typeface="Calibri" panose="020F0502020204030204" pitchFamily="34" charset="0"/>
                        </a:rPr>
                        <a:t>INFRA_FLAKE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700" b="0">
                          <a:solidFill>
                            <a:srgbClr val="282828"/>
                          </a:solidFill>
                          <a:latin typeface="Calibri" panose="020F0502020204030204" pitchFamily="34" charset="0"/>
                        </a:rPr>
                        <a:t>Retry (budget 2)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700" b="0">
                          <a:solidFill>
                            <a:srgbClr val="282828"/>
                          </a:solidFill>
                          <a:latin typeface="Calibri" panose="020F0502020204030204" pitchFamily="34" charset="0"/>
                        </a:rPr>
                        <a:t>T2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2629650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rPr lang="en-IN" sz="1700" b="0">
                          <a:solidFill>
                            <a:srgbClr val="282828"/>
                          </a:solidFill>
                          <a:latin typeface="Calibri" panose="020F0502020204030204" pitchFamily="34" charset="0"/>
                        </a:rPr>
                        <a:t>Corruption or data loss</a:t>
                      </a:r>
                    </a:p>
                  </a:txBody>
                  <a:tcPr marT="25400" marB="25400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700" b="0">
                          <a:solidFill>
                            <a:srgbClr val="282828"/>
                          </a:solidFill>
                          <a:latin typeface="Calibri" panose="020F0502020204030204" pitchFamily="34" charset="0"/>
                        </a:rPr>
                        <a:t>DATA_FAULT</a:t>
                      </a:r>
                    </a:p>
                  </a:txBody>
                  <a:tcPr marT="25400" marB="25400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700" b="0">
                          <a:solidFill>
                            <a:srgbClr val="282828"/>
                          </a:solidFill>
                          <a:latin typeface="Calibri" panose="020F0502020204030204" pitchFamily="34" charset="0"/>
                        </a:rPr>
                        <a:t>Escalate, never retry</a:t>
                      </a:r>
                    </a:p>
                  </a:txBody>
                  <a:tcPr marT="25400" marB="25400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700" b="0">
                          <a:solidFill>
                            <a:srgbClr val="282828"/>
                          </a:solidFill>
                          <a:latin typeface="Calibri" panose="020F0502020204030204" pitchFamily="34" charset="0"/>
                        </a:rPr>
                        <a:t>T1</a:t>
                      </a:r>
                    </a:p>
                  </a:txBody>
                  <a:tcPr marT="25400" marB="25400">
                    <a:solidFill>
                      <a:srgbClr val="F0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6927573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rPr lang="en-IN" sz="1700" b="0">
                          <a:solidFill>
                            <a:srgbClr val="282828"/>
                          </a:solidFill>
                          <a:latin typeface="Calibri" panose="020F0502020204030204" pitchFamily="34" charset="0"/>
                        </a:rPr>
                        <a:t>A failing host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700" b="0">
                          <a:solidFill>
                            <a:srgbClr val="282828"/>
                          </a:solidFill>
                          <a:latin typeface="Calibri" panose="020F0502020204030204" pitchFamily="34" charset="0"/>
                        </a:rPr>
                        <a:t>ENV_FAULT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700" b="0">
                          <a:solidFill>
                            <a:srgbClr val="282828"/>
                          </a:solidFill>
                          <a:latin typeface="Calibri" panose="020F0502020204030204" pitchFamily="34" charset="0"/>
                        </a:rPr>
                        <a:t>Quarantine the node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700" b="0">
                          <a:solidFill>
                            <a:srgbClr val="282828"/>
                          </a:solidFill>
                          <a:latin typeface="Calibri" panose="020F0502020204030204" pitchFamily="34" charset="0"/>
                        </a:rPr>
                        <a:t>T3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8918138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rPr lang="en-IN" sz="1700" b="0">
                          <a:solidFill>
                            <a:srgbClr val="282828"/>
                          </a:solidFill>
                          <a:latin typeface="Calibri" panose="020F0502020204030204" pitchFamily="34" charset="0"/>
                        </a:rPr>
                        <a:t>A genuine defect</a:t>
                      </a:r>
                    </a:p>
                  </a:txBody>
                  <a:tcPr marT="25400" marB="25400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700" b="0">
                          <a:solidFill>
                            <a:srgbClr val="282828"/>
                          </a:solidFill>
                          <a:latin typeface="Calibri" panose="020F0502020204030204" pitchFamily="34" charset="0"/>
                        </a:rPr>
                        <a:t>REAL_BUG</a:t>
                      </a:r>
                    </a:p>
                  </a:txBody>
                  <a:tcPr marT="25400" marB="25400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700" b="0">
                          <a:solidFill>
                            <a:srgbClr val="282828"/>
                          </a:solidFill>
                          <a:latin typeface="Calibri" panose="020F0502020204030204" pitchFamily="34" charset="0"/>
                        </a:rPr>
                        <a:t>Block merge, alert developer</a:t>
                      </a:r>
                    </a:p>
                  </a:txBody>
                  <a:tcPr marT="25400" marB="25400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700" b="0">
                          <a:solidFill>
                            <a:srgbClr val="282828"/>
                          </a:solidFill>
                          <a:latin typeface="Calibri" panose="020F0502020204030204" pitchFamily="34" charset="0"/>
                        </a:rPr>
                        <a:t>T1</a:t>
                      </a:r>
                    </a:p>
                  </a:txBody>
                  <a:tcPr marT="25400" marB="25400">
                    <a:solidFill>
                      <a:srgbClr val="F0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9390391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rPr lang="en-IN" sz="1700" b="0">
                          <a:solidFill>
                            <a:srgbClr val="282828"/>
                          </a:solidFill>
                          <a:latin typeface="Calibri" panose="020F0502020204030204" pitchFamily="34" charset="0"/>
                        </a:rPr>
                        <a:t>Nothing wrong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700" b="0">
                          <a:solidFill>
                            <a:srgbClr val="282828"/>
                          </a:solidFill>
                          <a:latin typeface="Calibri" panose="020F0502020204030204" pitchFamily="34" charset="0"/>
                        </a:rPr>
                        <a:t>PASS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700" b="0">
                          <a:solidFill>
                            <a:srgbClr val="282828"/>
                          </a:solidFill>
                          <a:latin typeface="Calibri" panose="020F0502020204030204" pitchFamily="34" charset="0"/>
                        </a:rPr>
                        <a:t>Allow merge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700" b="0">
                          <a:solidFill>
                            <a:srgbClr val="282828"/>
                          </a:solidFill>
                          <a:latin typeface="Calibri" panose="020F0502020204030204" pitchFamily="34" charset="0"/>
                        </a:rPr>
                        <a:t>T2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846498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58C1C61A-39A0-3BA3-2FFC-EAADC654BB05}"/>
              </a:ext>
            </a:extLst>
          </p:cNvPr>
          <p:cNvSpPr txBox="1"/>
          <p:nvPr/>
        </p:nvSpPr>
        <p:spPr>
          <a:xfrm>
            <a:off x="508000" y="5588000"/>
            <a:ext cx="11176000" cy="400110"/>
          </a:xfrm>
          <a:prstGeom prst="rect">
            <a:avLst/>
          </a:prstGeom>
          <a:noFill/>
        </p:spPr>
        <p:txBody>
          <a:bodyPr vert="horz" wrap="square" lIns="50800" rIns="50800" rtlCol="0" anchor="t">
            <a:spAutoFit/>
          </a:bodyPr>
          <a:lstStyle/>
          <a:p>
            <a:r>
              <a:rPr lang="en-US" sz="2000" b="1">
                <a:solidFill>
                  <a:srgbClr val="008080"/>
                </a:solidFill>
                <a:latin typeface="Calibri" panose="020F0502020204030204" pitchFamily="34" charset="0"/>
              </a:rPr>
              <a:t>Second question: how much may the agent do alone? We answer it from its measured track record.</a:t>
            </a:r>
            <a:endParaRPr lang="en-IN" sz="2000" b="1">
              <a:solidFill>
                <a:srgbClr val="00808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2004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EED5756-3CB4-44C2-9C51-832F81602DE1}"/>
              </a:ext>
            </a:extLst>
          </p:cNvPr>
          <p:cNvSpPr/>
          <p:nvPr/>
        </p:nvSpPr>
        <p:spPr>
          <a:xfrm>
            <a:off x="0" y="0"/>
            <a:ext cx="12192000" cy="812800"/>
          </a:xfrm>
          <a:prstGeom prst="rect">
            <a:avLst/>
          </a:prstGeom>
          <a:solidFill>
            <a:srgbClr val="16325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F464DC4-BD42-2594-0577-3BF1FDA2703C}"/>
              </a:ext>
            </a:extLst>
          </p:cNvPr>
          <p:cNvSpPr txBox="1"/>
          <p:nvPr/>
        </p:nvSpPr>
        <p:spPr>
          <a:xfrm>
            <a:off x="457200" y="65445"/>
            <a:ext cx="11277600" cy="492443"/>
          </a:xfrm>
          <a:prstGeom prst="rect">
            <a:avLst/>
          </a:prstGeom>
          <a:noFill/>
        </p:spPr>
        <p:txBody>
          <a:bodyPr vert="horz" wrap="square" lIns="50800" rIns="50800" rtlCol="0" anchor="ctr">
            <a:spAutoFit/>
          </a:bodyPr>
          <a:lstStyle/>
          <a:p>
            <a:r>
              <a:rPr lang="en-IN" sz="2600" b="1">
                <a:solidFill>
                  <a:srgbClr val="FFFFFF"/>
                </a:solidFill>
                <a:latin typeface="Calibri" panose="020F0502020204030204" pitchFamily="34" charset="0"/>
              </a:rPr>
              <a:t>System architecture: five layers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1B99433-B766-96A1-A0EC-6F1EC8237F0A}"/>
              </a:ext>
            </a:extLst>
          </p:cNvPr>
          <p:cNvSpPr/>
          <p:nvPr/>
        </p:nvSpPr>
        <p:spPr>
          <a:xfrm>
            <a:off x="0" y="812800"/>
            <a:ext cx="12192000" cy="50800"/>
          </a:xfrm>
          <a:prstGeom prst="rect">
            <a:avLst/>
          </a:prstGeom>
          <a:solidFill>
            <a:srgbClr val="00808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9C9C3B4-6F5C-C1C1-C983-512FD067EB3E}"/>
              </a:ext>
            </a:extLst>
          </p:cNvPr>
          <p:cNvSpPr txBox="1"/>
          <p:nvPr/>
        </p:nvSpPr>
        <p:spPr>
          <a:xfrm>
            <a:off x="11430000" y="6477000"/>
            <a:ext cx="508000" cy="261610"/>
          </a:xfrm>
          <a:prstGeom prst="rect">
            <a:avLst/>
          </a:prstGeom>
          <a:noFill/>
        </p:spPr>
        <p:txBody>
          <a:bodyPr vert="horz" wrap="square" lIns="50800" rIns="50800" rtlCol="0" anchor="t">
            <a:spAutoFit/>
          </a:bodyPr>
          <a:lstStyle/>
          <a:p>
            <a:pPr algn="r"/>
            <a:r>
              <a:rPr lang="en-IN" sz="1100">
                <a:solidFill>
                  <a:srgbClr val="787878"/>
                </a:solidFill>
                <a:latin typeface="Calibri" panose="020F0502020204030204" pitchFamily="34" charset="0"/>
              </a:rPr>
              <a:t>4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30DDAA9-3265-6990-7B17-0AC577C1DAE4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000" y="1224208"/>
            <a:ext cx="7112000" cy="514618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B4F5423-9F23-382D-049D-EFCC55CD8475}"/>
              </a:ext>
            </a:extLst>
          </p:cNvPr>
          <p:cNvSpPr txBox="1"/>
          <p:nvPr/>
        </p:nvSpPr>
        <p:spPr>
          <a:xfrm>
            <a:off x="7874000" y="1651000"/>
            <a:ext cx="4064000" cy="206210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228600" indent="-228600">
              <a:spcAft>
                <a:spcPts val="1200"/>
              </a:spcAft>
              <a:buClr>
                <a:srgbClr val="008080"/>
              </a:buClr>
              <a:buFont typeface="+mj-lt"/>
              <a:buChar char="•"/>
            </a:pPr>
            <a:r>
              <a:rPr lang="en-US">
                <a:solidFill>
                  <a:srgbClr val="282828"/>
                </a:solidFill>
                <a:latin typeface="Calibri" panose="020F0502020204030204" pitchFamily="34" charset="0"/>
              </a:rPr>
              <a:t>Deciding and executing are separate</a:t>
            </a:r>
          </a:p>
          <a:p>
            <a:pPr marL="228600" indent="-228600">
              <a:spcAft>
                <a:spcPts val="1200"/>
              </a:spcAft>
              <a:buClr>
                <a:srgbClr val="008080"/>
              </a:buClr>
              <a:buFont typeface="+mj-lt"/>
              <a:buChar char="•"/>
            </a:pPr>
            <a:r>
              <a:rPr lang="en-US">
                <a:solidFill>
                  <a:srgbClr val="282828"/>
                </a:solidFill>
                <a:latin typeface="Calibri" panose="020F0502020204030204" pitchFamily="34" charset="0"/>
              </a:rPr>
              <a:t>Prefers to abstain: unknown trace, thin canary, low confidence all go to a human</a:t>
            </a:r>
          </a:p>
          <a:p>
            <a:pPr marL="228600" indent="-228600">
              <a:spcAft>
                <a:spcPts val="1200"/>
              </a:spcAft>
              <a:buClr>
                <a:srgbClr val="008080"/>
              </a:buClr>
              <a:buFont typeface="+mj-lt"/>
              <a:buChar char="•"/>
            </a:pPr>
            <a:r>
              <a:rPr lang="en-US">
                <a:solidFill>
                  <a:srgbClr val="282828"/>
                </a:solidFill>
                <a:latin typeface="Calibri" panose="020F0502020204030204" pitchFamily="34" charset="0"/>
              </a:rPr>
              <a:t>One function serves the API, CI gate and dashboard</a:t>
            </a:r>
            <a:endParaRPr lang="en-IN">
              <a:solidFill>
                <a:srgbClr val="282828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74171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CCBED4C-B665-6F6E-D72E-D80362DD3B62}"/>
              </a:ext>
            </a:extLst>
          </p:cNvPr>
          <p:cNvSpPr/>
          <p:nvPr/>
        </p:nvSpPr>
        <p:spPr>
          <a:xfrm>
            <a:off x="0" y="0"/>
            <a:ext cx="12192000" cy="812800"/>
          </a:xfrm>
          <a:prstGeom prst="rect">
            <a:avLst/>
          </a:prstGeom>
          <a:solidFill>
            <a:srgbClr val="16325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EEA748A-38FA-AA5E-C559-4E1038F7733F}"/>
              </a:ext>
            </a:extLst>
          </p:cNvPr>
          <p:cNvSpPr txBox="1"/>
          <p:nvPr/>
        </p:nvSpPr>
        <p:spPr>
          <a:xfrm>
            <a:off x="457200" y="65445"/>
            <a:ext cx="11277600" cy="492443"/>
          </a:xfrm>
          <a:prstGeom prst="rect">
            <a:avLst/>
          </a:prstGeom>
          <a:noFill/>
        </p:spPr>
        <p:txBody>
          <a:bodyPr vert="horz" wrap="square" lIns="50800" rIns="50800" rtlCol="0" anchor="ctr">
            <a:spAutoFit/>
          </a:bodyPr>
          <a:lstStyle/>
          <a:p>
            <a:r>
              <a:rPr lang="en-US" sz="2600" b="1">
                <a:solidFill>
                  <a:srgbClr val="FFFFFF"/>
                </a:solidFill>
                <a:latin typeface="Calibri" panose="020F0502020204030204" pitchFamily="34" charset="0"/>
              </a:rPr>
              <a:t>Data foundation: real traces, clocks fixed, no leakage</a:t>
            </a:r>
            <a:endParaRPr lang="en-IN" sz="2600" b="1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96EC100-BB3C-486F-0FF0-C09AC9A1FBA9}"/>
              </a:ext>
            </a:extLst>
          </p:cNvPr>
          <p:cNvSpPr/>
          <p:nvPr/>
        </p:nvSpPr>
        <p:spPr>
          <a:xfrm>
            <a:off x="0" y="812800"/>
            <a:ext cx="12192000" cy="50800"/>
          </a:xfrm>
          <a:prstGeom prst="rect">
            <a:avLst/>
          </a:prstGeom>
          <a:solidFill>
            <a:srgbClr val="00808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CA9631D-2779-2D3D-4F2A-16776597DEF8}"/>
              </a:ext>
            </a:extLst>
          </p:cNvPr>
          <p:cNvSpPr txBox="1"/>
          <p:nvPr/>
        </p:nvSpPr>
        <p:spPr>
          <a:xfrm>
            <a:off x="11430000" y="6477000"/>
            <a:ext cx="508000" cy="261610"/>
          </a:xfrm>
          <a:prstGeom prst="rect">
            <a:avLst/>
          </a:prstGeom>
          <a:noFill/>
        </p:spPr>
        <p:txBody>
          <a:bodyPr vert="horz" wrap="square" lIns="50800" rIns="50800" rtlCol="0" anchor="t">
            <a:spAutoFit/>
          </a:bodyPr>
          <a:lstStyle/>
          <a:p>
            <a:pPr algn="r"/>
            <a:r>
              <a:rPr lang="en-IN" sz="1100">
                <a:solidFill>
                  <a:srgbClr val="787878"/>
                </a:solidFill>
                <a:latin typeface="Calibri" panose="020F0502020204030204" pitchFamily="34" charset="0"/>
              </a:rPr>
              <a:t>5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36FC081-1136-280A-50B4-FDD37E82DA2D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311" y="1117600"/>
            <a:ext cx="6229378" cy="2794000"/>
          </a:xfrm>
          <a:prstGeom prst="rect">
            <a:avLst/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9DF6781-EFDE-3B58-07DE-66F5092A84F1}"/>
              </a:ext>
            </a:extLst>
          </p:cNvPr>
          <p:cNvSpPr/>
          <p:nvPr/>
        </p:nvSpPr>
        <p:spPr>
          <a:xfrm>
            <a:off x="7493000" y="1168400"/>
            <a:ext cx="2032000" cy="1092200"/>
          </a:xfrm>
          <a:prstGeom prst="roundRect">
            <a:avLst/>
          </a:prstGeom>
          <a:solidFill>
            <a:srgbClr val="F0F4F7"/>
          </a:solidFill>
          <a:ln>
            <a:solidFill>
              <a:srgbClr val="C3CDD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6D62AFB-DE76-E207-AA4B-4EBEC3FD156D}"/>
              </a:ext>
            </a:extLst>
          </p:cNvPr>
          <p:cNvSpPr txBox="1"/>
          <p:nvPr/>
        </p:nvSpPr>
        <p:spPr>
          <a:xfrm>
            <a:off x="7493000" y="1244600"/>
            <a:ext cx="2032000" cy="553998"/>
          </a:xfrm>
          <a:prstGeom prst="rect">
            <a:avLst/>
          </a:prstGeom>
          <a:noFill/>
        </p:spPr>
        <p:txBody>
          <a:bodyPr vert="horz" wrap="square" lIns="50800" rIns="50800" rtlCol="0" anchor="t">
            <a:spAutoFit/>
          </a:bodyPr>
          <a:lstStyle/>
          <a:p>
            <a:pPr algn="ctr"/>
            <a:r>
              <a:rPr lang="en-IN" sz="3000" b="1">
                <a:solidFill>
                  <a:srgbClr val="16325C"/>
                </a:solidFill>
                <a:latin typeface="Calibri" panose="020F0502020204030204" pitchFamily="34" charset="0"/>
              </a:rPr>
              <a:t>81,777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7208F39-0C04-C06C-A901-61FEBC8A65D4}"/>
              </a:ext>
            </a:extLst>
          </p:cNvPr>
          <p:cNvSpPr txBox="1"/>
          <p:nvPr/>
        </p:nvSpPr>
        <p:spPr>
          <a:xfrm>
            <a:off x="7543800" y="1803400"/>
            <a:ext cx="1930400" cy="276999"/>
          </a:xfrm>
          <a:prstGeom prst="rect">
            <a:avLst/>
          </a:prstGeom>
          <a:noFill/>
        </p:spPr>
        <p:txBody>
          <a:bodyPr vert="horz" wrap="square" lIns="50800" rIns="50800" rtlCol="0" anchor="t">
            <a:spAutoFit/>
          </a:bodyPr>
          <a:lstStyle/>
          <a:p>
            <a:pPr algn="ctr"/>
            <a:r>
              <a:rPr lang="en-IN" sz="1200">
                <a:solidFill>
                  <a:srgbClr val="787878"/>
                </a:solidFill>
                <a:latin typeface="Calibri" panose="020F0502020204030204" pitchFamily="34" charset="0"/>
              </a:rPr>
              <a:t>traces, all align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7830123-8DE8-EE52-7C51-53D324983224}"/>
              </a:ext>
            </a:extLst>
          </p:cNvPr>
          <p:cNvSpPr/>
          <p:nvPr/>
        </p:nvSpPr>
        <p:spPr>
          <a:xfrm>
            <a:off x="9779000" y="1168400"/>
            <a:ext cx="2032000" cy="1092200"/>
          </a:xfrm>
          <a:prstGeom prst="roundRect">
            <a:avLst/>
          </a:prstGeom>
          <a:solidFill>
            <a:srgbClr val="F0F4F7"/>
          </a:solidFill>
          <a:ln>
            <a:solidFill>
              <a:srgbClr val="C3CDD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88069A9-AF8D-B223-E710-287DF940387B}"/>
              </a:ext>
            </a:extLst>
          </p:cNvPr>
          <p:cNvSpPr txBox="1"/>
          <p:nvPr/>
        </p:nvSpPr>
        <p:spPr>
          <a:xfrm>
            <a:off x="9779000" y="1244600"/>
            <a:ext cx="2032000" cy="553998"/>
          </a:xfrm>
          <a:prstGeom prst="rect">
            <a:avLst/>
          </a:prstGeom>
          <a:noFill/>
        </p:spPr>
        <p:txBody>
          <a:bodyPr vert="horz" wrap="square" lIns="50800" rIns="50800" rtlCol="0" anchor="t">
            <a:spAutoFit/>
          </a:bodyPr>
          <a:lstStyle/>
          <a:p>
            <a:pPr algn="ctr"/>
            <a:r>
              <a:rPr lang="en-IN" sz="3000" b="1">
                <a:solidFill>
                  <a:srgbClr val="16325C"/>
                </a:solidFill>
                <a:latin typeface="Calibri" panose="020F0502020204030204" pitchFamily="34" charset="0"/>
              </a:rPr>
              <a:t>363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FDA93F9-D731-0FE7-1B30-1006BC60C85B}"/>
              </a:ext>
            </a:extLst>
          </p:cNvPr>
          <p:cNvSpPr txBox="1"/>
          <p:nvPr/>
        </p:nvSpPr>
        <p:spPr>
          <a:xfrm>
            <a:off x="9829800" y="1803400"/>
            <a:ext cx="1930400" cy="276999"/>
          </a:xfrm>
          <a:prstGeom prst="rect">
            <a:avLst/>
          </a:prstGeom>
          <a:noFill/>
        </p:spPr>
        <p:txBody>
          <a:bodyPr vert="horz" wrap="square" lIns="50800" rIns="50800" rtlCol="0" anchor="t">
            <a:spAutoFit/>
          </a:bodyPr>
          <a:lstStyle/>
          <a:p>
            <a:pPr algn="ctr"/>
            <a:r>
              <a:rPr lang="en-IN" sz="1200">
                <a:solidFill>
                  <a:srgbClr val="787878"/>
                </a:solidFill>
                <a:latin typeface="Calibri" panose="020F0502020204030204" pitchFamily="34" charset="0"/>
              </a:rPr>
              <a:t>scenario folders, 3.0 GB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90C119BE-7E32-878A-C5D3-AD8DFFFBDCE4}"/>
              </a:ext>
            </a:extLst>
          </p:cNvPr>
          <p:cNvSpPr/>
          <p:nvPr/>
        </p:nvSpPr>
        <p:spPr>
          <a:xfrm>
            <a:off x="7493000" y="2438400"/>
            <a:ext cx="2032000" cy="1092200"/>
          </a:xfrm>
          <a:prstGeom prst="roundRect">
            <a:avLst/>
          </a:prstGeom>
          <a:solidFill>
            <a:srgbClr val="F0F4F7"/>
          </a:solidFill>
          <a:ln>
            <a:solidFill>
              <a:srgbClr val="C3CDD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C0E538A-2344-B59A-DF0F-C51986828073}"/>
              </a:ext>
            </a:extLst>
          </p:cNvPr>
          <p:cNvSpPr txBox="1"/>
          <p:nvPr/>
        </p:nvSpPr>
        <p:spPr>
          <a:xfrm>
            <a:off x="7493000" y="2514600"/>
            <a:ext cx="2032000" cy="553998"/>
          </a:xfrm>
          <a:prstGeom prst="rect">
            <a:avLst/>
          </a:prstGeom>
          <a:noFill/>
        </p:spPr>
        <p:txBody>
          <a:bodyPr vert="horz" wrap="square" lIns="50800" rIns="50800" rtlCol="0" anchor="t">
            <a:spAutoFit/>
          </a:bodyPr>
          <a:lstStyle/>
          <a:p>
            <a:pPr algn="ctr"/>
            <a:r>
              <a:rPr lang="en-IN" sz="3000" b="1">
                <a:solidFill>
                  <a:srgbClr val="16325C"/>
                </a:solidFill>
                <a:latin typeface="Calibri" panose="020F0502020204030204" pitchFamily="34" charset="0"/>
              </a:rPr>
              <a:t>57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9E077EC-0931-2692-784E-46B4EBF533A5}"/>
              </a:ext>
            </a:extLst>
          </p:cNvPr>
          <p:cNvSpPr txBox="1"/>
          <p:nvPr/>
        </p:nvSpPr>
        <p:spPr>
          <a:xfrm>
            <a:off x="7543800" y="3073400"/>
            <a:ext cx="1930400" cy="276999"/>
          </a:xfrm>
          <a:prstGeom prst="rect">
            <a:avLst/>
          </a:prstGeom>
          <a:noFill/>
        </p:spPr>
        <p:txBody>
          <a:bodyPr vert="horz" wrap="square" lIns="50800" rIns="50800" rtlCol="0" anchor="t">
            <a:spAutoFit/>
          </a:bodyPr>
          <a:lstStyle/>
          <a:p>
            <a:pPr algn="ctr"/>
            <a:r>
              <a:rPr lang="en-IN" sz="1200">
                <a:solidFill>
                  <a:srgbClr val="787878"/>
                </a:solidFill>
                <a:latin typeface="Calibri" panose="020F0502020204030204" pitchFamily="34" charset="0"/>
              </a:rPr>
              <a:t>held-out test scenarios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34E513C6-FB5A-FD6B-D67D-A6C39B0113B0}"/>
              </a:ext>
            </a:extLst>
          </p:cNvPr>
          <p:cNvSpPr/>
          <p:nvPr/>
        </p:nvSpPr>
        <p:spPr>
          <a:xfrm>
            <a:off x="9779000" y="2438400"/>
            <a:ext cx="2032000" cy="1092200"/>
          </a:xfrm>
          <a:prstGeom prst="roundRect">
            <a:avLst/>
          </a:prstGeom>
          <a:solidFill>
            <a:srgbClr val="F0F4F7"/>
          </a:solidFill>
          <a:ln>
            <a:solidFill>
              <a:srgbClr val="C3CDD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EEDB641-B268-2A04-A540-BC50396CB540}"/>
              </a:ext>
            </a:extLst>
          </p:cNvPr>
          <p:cNvSpPr txBox="1"/>
          <p:nvPr/>
        </p:nvSpPr>
        <p:spPr>
          <a:xfrm>
            <a:off x="9779000" y="2514600"/>
            <a:ext cx="2032000" cy="553998"/>
          </a:xfrm>
          <a:prstGeom prst="rect">
            <a:avLst/>
          </a:prstGeom>
          <a:noFill/>
        </p:spPr>
        <p:txBody>
          <a:bodyPr vert="horz" wrap="square" lIns="50800" rIns="50800" rtlCol="0" anchor="t">
            <a:spAutoFit/>
          </a:bodyPr>
          <a:lstStyle/>
          <a:p>
            <a:pPr algn="ctr"/>
            <a:r>
              <a:rPr lang="en-IN" sz="3000" b="1">
                <a:solidFill>
                  <a:srgbClr val="16325C"/>
                </a:solidFill>
                <a:latin typeface="Calibri" panose="020F0502020204030204" pitchFamily="34" charset="0"/>
              </a:rPr>
              <a:t>10,513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1DC141F-4B0F-851C-592E-55DEE9092975}"/>
              </a:ext>
            </a:extLst>
          </p:cNvPr>
          <p:cNvSpPr txBox="1"/>
          <p:nvPr/>
        </p:nvSpPr>
        <p:spPr>
          <a:xfrm>
            <a:off x="9829800" y="3073400"/>
            <a:ext cx="1930400" cy="276999"/>
          </a:xfrm>
          <a:prstGeom prst="rect">
            <a:avLst/>
          </a:prstGeom>
          <a:noFill/>
        </p:spPr>
        <p:txBody>
          <a:bodyPr vert="horz" wrap="square" lIns="50800" rIns="50800" rtlCol="0" anchor="t">
            <a:spAutoFit/>
          </a:bodyPr>
          <a:lstStyle/>
          <a:p>
            <a:pPr algn="ctr"/>
            <a:r>
              <a:rPr lang="en-IN" sz="1200">
                <a:solidFill>
                  <a:srgbClr val="787878"/>
                </a:solidFill>
                <a:latin typeface="Calibri" panose="020F0502020204030204" pitchFamily="34" charset="0"/>
              </a:rPr>
              <a:t>test traces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5B0FD6C-9C35-1B21-F76C-20BFC1607AA1}"/>
              </a:ext>
            </a:extLst>
          </p:cNvPr>
          <p:cNvSpPr txBox="1"/>
          <p:nvPr/>
        </p:nvSpPr>
        <p:spPr>
          <a:xfrm>
            <a:off x="508000" y="4191000"/>
            <a:ext cx="11176000" cy="112851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228600" indent="-228600">
              <a:spcAft>
                <a:spcPts val="800"/>
              </a:spcAft>
              <a:buClr>
                <a:srgbClr val="008080"/>
              </a:buClr>
              <a:buFont typeface="+mj-lt"/>
              <a:buChar char="•"/>
            </a:pPr>
            <a:r>
              <a:rPr lang="en-US">
                <a:solidFill>
                  <a:srgbClr val="282828"/>
                </a:solidFill>
                <a:latin typeface="Calibri" panose="020F0502020204030204" pitchFamily="34" charset="0"/>
              </a:rPr>
              <a:t>Offset of a host = parent's clock reading minus child's first reading, propagated down the call tree</a:t>
            </a:r>
          </a:p>
          <a:p>
            <a:pPr marL="228600" indent="-228600">
              <a:spcAft>
                <a:spcPts val="800"/>
              </a:spcAft>
              <a:buClr>
                <a:srgbClr val="008080"/>
              </a:buClr>
              <a:buFont typeface="+mj-lt"/>
              <a:buChar char="•"/>
            </a:pPr>
            <a:r>
              <a:rPr lang="en-US">
                <a:solidFill>
                  <a:srgbClr val="282828"/>
                </a:solidFill>
                <a:latin typeface="Calibri" panose="020F0502020204030204" pitchFamily="34" charset="0"/>
              </a:rPr>
              <a:t>Class from the scenario family; compound faults (20,010 traces) held out as a probe</a:t>
            </a:r>
          </a:p>
          <a:p>
            <a:pPr marL="228600" indent="-228600">
              <a:spcAft>
                <a:spcPts val="800"/>
              </a:spcAft>
              <a:buClr>
                <a:srgbClr val="008080"/>
              </a:buClr>
              <a:buFont typeface="+mj-lt"/>
              <a:buChar char="•"/>
            </a:pPr>
            <a:r>
              <a:rPr lang="en-US">
                <a:solidFill>
                  <a:srgbClr val="282828"/>
                </a:solidFill>
                <a:latin typeface="Calibri" panose="020F0502020204030204" pitchFamily="34" charset="0"/>
              </a:rPr>
              <a:t>Task title is not a model input: it leaks the scenario</a:t>
            </a:r>
            <a:endParaRPr lang="en-IN">
              <a:solidFill>
                <a:srgbClr val="282828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85000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2441228-C49E-59ED-CAED-CDA8E10CB34F}"/>
              </a:ext>
            </a:extLst>
          </p:cNvPr>
          <p:cNvSpPr/>
          <p:nvPr/>
        </p:nvSpPr>
        <p:spPr>
          <a:xfrm>
            <a:off x="0" y="0"/>
            <a:ext cx="12192000" cy="812800"/>
          </a:xfrm>
          <a:prstGeom prst="rect">
            <a:avLst/>
          </a:prstGeom>
          <a:solidFill>
            <a:srgbClr val="16325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A914D80-37FF-3D4A-947A-CA3B8FAE2F63}"/>
              </a:ext>
            </a:extLst>
          </p:cNvPr>
          <p:cNvSpPr txBox="1"/>
          <p:nvPr/>
        </p:nvSpPr>
        <p:spPr>
          <a:xfrm>
            <a:off x="457200" y="65445"/>
            <a:ext cx="11277600" cy="492443"/>
          </a:xfrm>
          <a:prstGeom prst="rect">
            <a:avLst/>
          </a:prstGeom>
          <a:noFill/>
        </p:spPr>
        <p:txBody>
          <a:bodyPr vert="horz" wrap="square" lIns="50800" rIns="50800" rtlCol="0" anchor="ctr">
            <a:spAutoFit/>
          </a:bodyPr>
          <a:lstStyle/>
          <a:p>
            <a:r>
              <a:rPr lang="en-IN" sz="2600" b="1">
                <a:solidFill>
                  <a:srgbClr val="FFFFFF"/>
                </a:solidFill>
                <a:latin typeface="Calibri" panose="020F0502020204030204" pitchFamily="34" charset="0"/>
              </a:rPr>
              <a:t>The model: attention-pooled BiLSTM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375C646-E48C-7095-077F-880368B46701}"/>
              </a:ext>
            </a:extLst>
          </p:cNvPr>
          <p:cNvSpPr/>
          <p:nvPr/>
        </p:nvSpPr>
        <p:spPr>
          <a:xfrm>
            <a:off x="0" y="812800"/>
            <a:ext cx="12192000" cy="50800"/>
          </a:xfrm>
          <a:prstGeom prst="rect">
            <a:avLst/>
          </a:prstGeom>
          <a:solidFill>
            <a:srgbClr val="00808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08C449-339C-1FFF-F265-1141340E7DCD}"/>
              </a:ext>
            </a:extLst>
          </p:cNvPr>
          <p:cNvSpPr txBox="1"/>
          <p:nvPr/>
        </p:nvSpPr>
        <p:spPr>
          <a:xfrm>
            <a:off x="11430000" y="6477000"/>
            <a:ext cx="508000" cy="261610"/>
          </a:xfrm>
          <a:prstGeom prst="rect">
            <a:avLst/>
          </a:prstGeom>
          <a:noFill/>
        </p:spPr>
        <p:txBody>
          <a:bodyPr vert="horz" wrap="square" lIns="50800" rIns="50800" rtlCol="0" anchor="t">
            <a:spAutoFit/>
          </a:bodyPr>
          <a:lstStyle/>
          <a:p>
            <a:pPr algn="r"/>
            <a:r>
              <a:rPr lang="en-IN" sz="1100">
                <a:solidFill>
                  <a:srgbClr val="787878"/>
                </a:solidFill>
                <a:latin typeface="Calibri" panose="020F0502020204030204" pitchFamily="34" charset="0"/>
              </a:rPr>
              <a:t>6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C0D1598-CF85-D85C-C399-57939D50F232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6297" y="1066800"/>
            <a:ext cx="7519406" cy="3810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D379D57-7161-0764-F147-9F0CA2E5D772}"/>
              </a:ext>
            </a:extLst>
          </p:cNvPr>
          <p:cNvSpPr txBox="1"/>
          <p:nvPr/>
        </p:nvSpPr>
        <p:spPr>
          <a:xfrm>
            <a:off x="508000" y="4953000"/>
            <a:ext cx="11176000" cy="103105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228600" indent="-228600">
              <a:spcAft>
                <a:spcPts val="600"/>
              </a:spcAft>
              <a:buClr>
                <a:srgbClr val="008080"/>
              </a:buClr>
              <a:buFont typeface="+mj-lt"/>
              <a:buChar char="•"/>
            </a:pPr>
            <a:r>
              <a:rPr lang="en-US" sz="1700">
                <a:solidFill>
                  <a:srgbClr val="282828"/>
                </a:solidFill>
                <a:latin typeface="Calibri" panose="020F0502020204030204" pitchFamily="34" charset="0"/>
              </a:rPr>
              <a:t>Inputs per span: operation|status, host role, agent type, depth, duration; plus 9 trace-level features</a:t>
            </a:r>
          </a:p>
          <a:p>
            <a:pPr marL="228600" indent="-228600">
              <a:spcAft>
                <a:spcPts val="600"/>
              </a:spcAft>
              <a:buClr>
                <a:srgbClr val="008080"/>
              </a:buClr>
              <a:buFont typeface="+mj-lt"/>
              <a:buChar char="•"/>
            </a:pPr>
            <a:r>
              <a:rPr lang="en-US" sz="1700">
                <a:solidFill>
                  <a:srgbClr val="282828"/>
                </a:solidFill>
                <a:latin typeface="Calibri" panose="020F0502020204030204" pitchFamily="34" charset="0"/>
              </a:rPr>
              <a:t>125,430 parameters, trained on CPU in 24 minutes</a:t>
            </a:r>
          </a:p>
          <a:p>
            <a:pPr marL="228600" indent="-228600">
              <a:spcAft>
                <a:spcPts val="600"/>
              </a:spcAft>
              <a:buClr>
                <a:srgbClr val="008080"/>
              </a:buClr>
              <a:buFont typeface="+mj-lt"/>
              <a:buChar char="•"/>
            </a:pPr>
            <a:r>
              <a:rPr lang="en-US" sz="1700">
                <a:solidFill>
                  <a:srgbClr val="282828"/>
                </a:solidFill>
                <a:latin typeface="Calibri" panose="020F0502020204030204" pitchFamily="34" charset="0"/>
              </a:rPr>
              <a:t>Evidence spans are a hint, not proof: two attempts to regularise attention were rejected</a:t>
            </a:r>
            <a:endParaRPr lang="en-IN" sz="1700">
              <a:solidFill>
                <a:srgbClr val="282828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81573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31CA6E7-9645-AC1D-20B5-8D1668C51BE8}"/>
              </a:ext>
            </a:extLst>
          </p:cNvPr>
          <p:cNvSpPr/>
          <p:nvPr/>
        </p:nvSpPr>
        <p:spPr>
          <a:xfrm>
            <a:off x="0" y="0"/>
            <a:ext cx="12192000" cy="812800"/>
          </a:xfrm>
          <a:prstGeom prst="rect">
            <a:avLst/>
          </a:prstGeom>
          <a:solidFill>
            <a:srgbClr val="16325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1FAE228-2F57-34C7-3315-6CB8028747B9}"/>
              </a:ext>
            </a:extLst>
          </p:cNvPr>
          <p:cNvSpPr txBox="1"/>
          <p:nvPr/>
        </p:nvSpPr>
        <p:spPr>
          <a:xfrm>
            <a:off x="457200" y="65445"/>
            <a:ext cx="11277600" cy="492443"/>
          </a:xfrm>
          <a:prstGeom prst="rect">
            <a:avLst/>
          </a:prstGeom>
          <a:noFill/>
        </p:spPr>
        <p:txBody>
          <a:bodyPr vert="horz" wrap="square" lIns="50800" rIns="50800" rtlCol="0" anchor="ctr">
            <a:spAutoFit/>
          </a:bodyPr>
          <a:lstStyle/>
          <a:p>
            <a:r>
              <a:rPr lang="en-US" sz="2600" b="1">
                <a:solidFill>
                  <a:srgbClr val="FFFFFF"/>
                </a:solidFill>
                <a:latin typeface="Calibri" panose="020F0502020204030204" pitchFamily="34" charset="0"/>
              </a:rPr>
              <a:t>Comparison with published architectures (same data, same split)</a:t>
            </a:r>
            <a:endParaRPr lang="en-IN" sz="2600" b="1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94D7A98-A1D8-6A67-F629-83B370565CFE}"/>
              </a:ext>
            </a:extLst>
          </p:cNvPr>
          <p:cNvSpPr/>
          <p:nvPr/>
        </p:nvSpPr>
        <p:spPr>
          <a:xfrm>
            <a:off x="0" y="812800"/>
            <a:ext cx="12192000" cy="50800"/>
          </a:xfrm>
          <a:prstGeom prst="rect">
            <a:avLst/>
          </a:prstGeom>
          <a:solidFill>
            <a:srgbClr val="00808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A7E07BC-68F9-D439-E248-C036182BE9C8}"/>
              </a:ext>
            </a:extLst>
          </p:cNvPr>
          <p:cNvSpPr txBox="1"/>
          <p:nvPr/>
        </p:nvSpPr>
        <p:spPr>
          <a:xfrm>
            <a:off x="11430000" y="6477000"/>
            <a:ext cx="508000" cy="261610"/>
          </a:xfrm>
          <a:prstGeom prst="rect">
            <a:avLst/>
          </a:prstGeom>
          <a:noFill/>
        </p:spPr>
        <p:txBody>
          <a:bodyPr vert="horz" wrap="square" lIns="50800" rIns="50800" rtlCol="0" anchor="t">
            <a:spAutoFit/>
          </a:bodyPr>
          <a:lstStyle/>
          <a:p>
            <a:pPr algn="r"/>
            <a:r>
              <a:rPr lang="en-IN" sz="1100">
                <a:solidFill>
                  <a:srgbClr val="787878"/>
                </a:solidFill>
                <a:latin typeface="Calibri" panose="020F0502020204030204" pitchFamily="34" charset="0"/>
              </a:rPr>
              <a:t>7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6703D55-E39F-250E-E9BA-B9B3FB236977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1866323"/>
            <a:ext cx="6604000" cy="3633354"/>
          </a:xfrm>
          <a:prstGeom prst="rect">
            <a:avLst/>
          </a:prstGeom>
        </p:spPr>
      </p:pic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11A4F253-3A79-C0B6-2587-D401F0067C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8633892"/>
              </p:ext>
            </p:extLst>
          </p:nvPr>
        </p:nvGraphicFramePr>
        <p:xfrm>
          <a:off x="7112000" y="1270000"/>
          <a:ext cx="4826000" cy="3022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9093">
                  <a:extLst>
                    <a:ext uri="{9D8B030D-6E8A-4147-A177-3AD203B41FA5}">
                      <a16:colId xmlns:a16="http://schemas.microsoft.com/office/drawing/2014/main" val="1840769432"/>
                    </a:ext>
                  </a:extLst>
                </a:gridCol>
                <a:gridCol w="836507">
                  <a:extLst>
                    <a:ext uri="{9D8B030D-6E8A-4147-A177-3AD203B41FA5}">
                      <a16:colId xmlns:a16="http://schemas.microsoft.com/office/drawing/2014/main" val="4285156755"/>
                    </a:ext>
                  </a:extLst>
                </a:gridCol>
                <a:gridCol w="1029547">
                  <a:extLst>
                    <a:ext uri="{9D8B030D-6E8A-4147-A177-3AD203B41FA5}">
                      <a16:colId xmlns:a16="http://schemas.microsoft.com/office/drawing/2014/main" val="622006768"/>
                    </a:ext>
                  </a:extLst>
                </a:gridCol>
                <a:gridCol w="900853">
                  <a:extLst>
                    <a:ext uri="{9D8B030D-6E8A-4147-A177-3AD203B41FA5}">
                      <a16:colId xmlns:a16="http://schemas.microsoft.com/office/drawing/2014/main" val="4092201408"/>
                    </a:ext>
                  </a:extLst>
                </a:gridCol>
              </a:tblGrid>
              <a:tr h="431800">
                <a:tc>
                  <a:txBody>
                    <a:bodyPr/>
                    <a:lstStyle/>
                    <a:p>
                      <a:r>
                        <a:rPr lang="en-IN" sz="1100" b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Model</a:t>
                      </a:r>
                    </a:p>
                  </a:txBody>
                  <a:tcPr marT="25400" marB="25400">
                    <a:solidFill>
                      <a:srgbClr val="1632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100" b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Macro-F1</a:t>
                      </a:r>
                    </a:p>
                  </a:txBody>
                  <a:tcPr marT="25400" marB="25400">
                    <a:solidFill>
                      <a:srgbClr val="1632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100" b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Excl. REAL_BUG</a:t>
                      </a:r>
                    </a:p>
                  </a:txBody>
                  <a:tcPr marT="25400" marB="25400">
                    <a:solidFill>
                      <a:srgbClr val="1632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100" b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Params</a:t>
                      </a:r>
                    </a:p>
                  </a:txBody>
                  <a:tcPr marT="25400" marB="25400">
                    <a:solidFill>
                      <a:srgbClr val="1632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2275809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r>
                        <a:rPr lang="en-US" sz="1100" b="0">
                          <a:solidFill>
                            <a:srgbClr val="282828"/>
                          </a:solidFill>
                          <a:latin typeface="Calibri" panose="020F0502020204030204" pitchFamily="34" charset="0"/>
                        </a:rPr>
                        <a:t>DeepLog-style LSTM given the same inputs as ours</a:t>
                      </a:r>
                      <a:endParaRPr lang="en-IN" sz="1100" b="0">
                        <a:solidFill>
                          <a:srgbClr val="282828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100" b="0">
                          <a:solidFill>
                            <a:srgbClr val="282828"/>
                          </a:solidFill>
                          <a:latin typeface="Calibri" panose="020F0502020204030204" pitchFamily="34" charset="0"/>
                        </a:rPr>
                        <a:t>0.7672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100" b="0">
                          <a:solidFill>
                            <a:srgbClr val="282828"/>
                          </a:solidFill>
                          <a:latin typeface="Calibri" panose="020F0502020204030204" pitchFamily="34" charset="0"/>
                        </a:rPr>
                        <a:t>0.7090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100" b="0">
                          <a:solidFill>
                            <a:srgbClr val="282828"/>
                          </a:solidFill>
                          <a:latin typeface="Calibri" panose="020F0502020204030204" pitchFamily="34" charset="0"/>
                        </a:rPr>
                        <a:t>88,437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3044644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r>
                        <a:rPr lang="en-IN" sz="1100" b="1">
                          <a:solidFill>
                            <a:srgbClr val="282828"/>
                          </a:solidFill>
                          <a:latin typeface="Calibri" panose="020F0502020204030204" pitchFamily="34" charset="0"/>
                        </a:rPr>
                        <a:t>Proposed</a:t>
                      </a:r>
                    </a:p>
                  </a:txBody>
                  <a:tcPr marT="25400" marB="25400">
                    <a:solidFill>
                      <a:srgbClr val="EBF5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100" b="1">
                          <a:solidFill>
                            <a:srgbClr val="282828"/>
                          </a:solidFill>
                          <a:latin typeface="Calibri" panose="020F0502020204030204" pitchFamily="34" charset="0"/>
                        </a:rPr>
                        <a:t>0.7464</a:t>
                      </a:r>
                    </a:p>
                  </a:txBody>
                  <a:tcPr marT="25400" marB="25400">
                    <a:solidFill>
                      <a:srgbClr val="EBF5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100" b="1">
                          <a:solidFill>
                            <a:srgbClr val="282828"/>
                          </a:solidFill>
                          <a:latin typeface="Calibri" panose="020F0502020204030204" pitchFamily="34" charset="0"/>
                        </a:rPr>
                        <a:t>0.6829</a:t>
                      </a:r>
                    </a:p>
                  </a:txBody>
                  <a:tcPr marT="25400" marB="25400">
                    <a:solidFill>
                      <a:srgbClr val="EBF5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100" b="1">
                          <a:solidFill>
                            <a:srgbClr val="282828"/>
                          </a:solidFill>
                          <a:latin typeface="Calibri" panose="020F0502020204030204" pitchFamily="34" charset="0"/>
                        </a:rPr>
                        <a:t>125,430</a:t>
                      </a:r>
                    </a:p>
                  </a:txBody>
                  <a:tcPr marT="25400" marB="25400">
                    <a:solidFill>
                      <a:srgbClr val="EBF5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2988447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r>
                        <a:rPr lang="en-IN" sz="1100" b="0">
                          <a:solidFill>
                            <a:srgbClr val="282828"/>
                          </a:solidFill>
                          <a:latin typeface="Calibri" panose="020F0502020204030204" pitchFamily="34" charset="0"/>
                        </a:rPr>
                        <a:t>Span + timing LSTM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100" b="0">
                          <a:solidFill>
                            <a:srgbClr val="282828"/>
                          </a:solidFill>
                          <a:latin typeface="Calibri" panose="020F0502020204030204" pitchFamily="34" charset="0"/>
                        </a:rPr>
                        <a:t>0.6549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100" b="0">
                          <a:solidFill>
                            <a:srgbClr val="282828"/>
                          </a:solidFill>
                          <a:latin typeface="Calibri" panose="020F0502020204030204" pitchFamily="34" charset="0"/>
                        </a:rPr>
                        <a:t>0.6483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100" b="0">
                          <a:solidFill>
                            <a:srgbClr val="282828"/>
                          </a:solidFill>
                          <a:latin typeface="Calibri" panose="020F0502020204030204" pitchFamily="34" charset="0"/>
                        </a:rPr>
                        <a:t>35,749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0693133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r>
                        <a:rPr lang="en-IN" sz="1100" b="0">
                          <a:solidFill>
                            <a:srgbClr val="282828"/>
                          </a:solidFill>
                          <a:latin typeface="Calibri" panose="020F0502020204030204" pitchFamily="34" charset="0"/>
                        </a:rPr>
                        <a:t>LogRobust-style</a:t>
                      </a:r>
                    </a:p>
                  </a:txBody>
                  <a:tcPr marT="25400" marB="25400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100" b="0">
                          <a:solidFill>
                            <a:srgbClr val="282828"/>
                          </a:solidFill>
                          <a:latin typeface="Calibri" panose="020F0502020204030204" pitchFamily="34" charset="0"/>
                        </a:rPr>
                        <a:t>0.6115</a:t>
                      </a:r>
                    </a:p>
                  </a:txBody>
                  <a:tcPr marT="25400" marB="25400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100" b="0">
                          <a:solidFill>
                            <a:srgbClr val="282828"/>
                          </a:solidFill>
                          <a:latin typeface="Calibri" panose="020F0502020204030204" pitchFamily="34" charset="0"/>
                        </a:rPr>
                        <a:t>0.6014</a:t>
                      </a:r>
                    </a:p>
                  </a:txBody>
                  <a:tcPr marT="25400" marB="25400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100" b="0">
                          <a:solidFill>
                            <a:srgbClr val="282828"/>
                          </a:solidFill>
                          <a:latin typeface="Calibri" panose="020F0502020204030204" pitchFamily="34" charset="0"/>
                        </a:rPr>
                        <a:t>71,510</a:t>
                      </a:r>
                    </a:p>
                  </a:txBody>
                  <a:tcPr marT="25400" marB="25400">
                    <a:solidFill>
                      <a:srgbClr val="F0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9499958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r>
                        <a:rPr lang="en-IN" sz="1100" b="0">
                          <a:solidFill>
                            <a:srgbClr val="282828"/>
                          </a:solidFill>
                          <a:latin typeface="Calibri" panose="020F0502020204030204" pitchFamily="34" charset="0"/>
                        </a:rPr>
                        <a:t>TextCNN, tokens only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100" b="0">
                          <a:solidFill>
                            <a:srgbClr val="282828"/>
                          </a:solidFill>
                          <a:latin typeface="Calibri" panose="020F0502020204030204" pitchFamily="34" charset="0"/>
                        </a:rPr>
                        <a:t>0.6059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100" b="0">
                          <a:solidFill>
                            <a:srgbClr val="282828"/>
                          </a:solidFill>
                          <a:latin typeface="Calibri" panose="020F0502020204030204" pitchFamily="34" charset="0"/>
                        </a:rPr>
                        <a:t>0.5980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100" b="0">
                          <a:solidFill>
                            <a:srgbClr val="282828"/>
                          </a:solidFill>
                          <a:latin typeface="Calibri" panose="020F0502020204030204" pitchFamily="34" charset="0"/>
                        </a:rPr>
                        <a:t>32,981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5972882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r>
                        <a:rPr lang="en-IN" sz="1100" b="0">
                          <a:solidFill>
                            <a:srgbClr val="282828"/>
                          </a:solidFill>
                          <a:latin typeface="Calibri" panose="020F0502020204030204" pitchFamily="34" charset="0"/>
                        </a:rPr>
                        <a:t>DeepLog-style</a:t>
                      </a:r>
                    </a:p>
                  </a:txBody>
                  <a:tcPr marT="25400" marB="25400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100" b="0">
                          <a:solidFill>
                            <a:srgbClr val="282828"/>
                          </a:solidFill>
                          <a:latin typeface="Calibri" panose="020F0502020204030204" pitchFamily="34" charset="0"/>
                        </a:rPr>
                        <a:t>0.4446</a:t>
                      </a:r>
                    </a:p>
                  </a:txBody>
                  <a:tcPr marT="25400" marB="25400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100" b="0">
                          <a:solidFill>
                            <a:srgbClr val="282828"/>
                          </a:solidFill>
                          <a:latin typeface="Calibri" panose="020F0502020204030204" pitchFamily="34" charset="0"/>
                        </a:rPr>
                        <a:t>0.3930</a:t>
                      </a:r>
                    </a:p>
                  </a:txBody>
                  <a:tcPr marT="25400" marB="25400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100" b="0">
                          <a:solidFill>
                            <a:srgbClr val="282828"/>
                          </a:solidFill>
                          <a:latin typeface="Calibri" panose="020F0502020204030204" pitchFamily="34" charset="0"/>
                        </a:rPr>
                        <a:t>66,965</a:t>
                      </a:r>
                    </a:p>
                  </a:txBody>
                  <a:tcPr marT="25400" marB="25400">
                    <a:solidFill>
                      <a:srgbClr val="F0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4619989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2CF22096-FAE9-1EA7-8759-6166F7AFBB1C}"/>
              </a:ext>
            </a:extLst>
          </p:cNvPr>
          <p:cNvSpPr txBox="1"/>
          <p:nvPr/>
        </p:nvSpPr>
        <p:spPr>
          <a:xfrm>
            <a:off x="7112000" y="4572000"/>
            <a:ext cx="4826000" cy="338554"/>
          </a:xfrm>
          <a:prstGeom prst="rect">
            <a:avLst/>
          </a:prstGeom>
          <a:noFill/>
        </p:spPr>
        <p:txBody>
          <a:bodyPr vert="horz" wrap="square" lIns="50800" rIns="50800" rtlCol="0" anchor="t">
            <a:spAutoFit/>
          </a:bodyPr>
          <a:lstStyle/>
          <a:p>
            <a:r>
              <a:rPr lang="en-US" sz="1600" b="1">
                <a:solidFill>
                  <a:srgbClr val="008080"/>
                </a:solidFill>
                <a:latin typeface="Calibri" panose="020F0502020204030204" pitchFamily="34" charset="0"/>
              </a:rPr>
              <a:t>Proposed vs best competitor: -0.0208 macro-F1</a:t>
            </a:r>
            <a:endParaRPr lang="en-IN" sz="1600" b="1">
              <a:solidFill>
                <a:srgbClr val="008080"/>
              </a:solidFill>
              <a:latin typeface="Calibri" panose="020F050202020403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08DE864-254A-F695-96B5-8393922DA6B7}"/>
              </a:ext>
            </a:extLst>
          </p:cNvPr>
          <p:cNvSpPr txBox="1"/>
          <p:nvPr/>
        </p:nvSpPr>
        <p:spPr>
          <a:xfrm>
            <a:off x="7112000" y="4978400"/>
            <a:ext cx="4826000" cy="692497"/>
          </a:xfrm>
          <a:prstGeom prst="rect">
            <a:avLst/>
          </a:prstGeom>
          <a:noFill/>
        </p:spPr>
        <p:txBody>
          <a:bodyPr vert="horz" wrap="square" lIns="50800" rIns="50800" rtlCol="0" anchor="t">
            <a:spAutoFit/>
          </a:bodyPr>
          <a:lstStyle/>
          <a:p>
            <a:r>
              <a:rPr lang="en-US" sz="1300">
                <a:solidFill>
                  <a:srgbClr val="787878"/>
                </a:solidFill>
                <a:latin typeface="Calibri" panose="020F0502020204030204" pitchFamily="34" charset="0"/>
              </a:rPr>
              <a:t>Competitors are re-implementations adapted to our 5-class task; single run each. With identical inputs, a plain 2-layer LSTM matches ours: inputs matter more than architecture here.</a:t>
            </a:r>
            <a:endParaRPr lang="en-IN" sz="1300">
              <a:solidFill>
                <a:srgbClr val="787878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62189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3ACB5BD-9647-6A2A-A49D-207D9532840C}"/>
              </a:ext>
            </a:extLst>
          </p:cNvPr>
          <p:cNvSpPr/>
          <p:nvPr/>
        </p:nvSpPr>
        <p:spPr>
          <a:xfrm>
            <a:off x="0" y="0"/>
            <a:ext cx="12192000" cy="812800"/>
          </a:xfrm>
          <a:prstGeom prst="rect">
            <a:avLst/>
          </a:prstGeom>
          <a:solidFill>
            <a:srgbClr val="16325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45E480D-C1F3-E056-4A22-8ED09245369A}"/>
              </a:ext>
            </a:extLst>
          </p:cNvPr>
          <p:cNvSpPr txBox="1"/>
          <p:nvPr/>
        </p:nvSpPr>
        <p:spPr>
          <a:xfrm>
            <a:off x="457200" y="65445"/>
            <a:ext cx="11277600" cy="492443"/>
          </a:xfrm>
          <a:prstGeom prst="rect">
            <a:avLst/>
          </a:prstGeom>
          <a:noFill/>
        </p:spPr>
        <p:txBody>
          <a:bodyPr vert="horz" wrap="square" lIns="50800" rIns="50800" rtlCol="0" anchor="ctr">
            <a:spAutoFit/>
          </a:bodyPr>
          <a:lstStyle/>
          <a:p>
            <a:r>
              <a:rPr lang="en-US" sz="2600" b="1">
                <a:solidFill>
                  <a:srgbClr val="FFFFFF"/>
                </a:solidFill>
                <a:latin typeface="Calibri" panose="020F0502020204030204" pitchFamily="34" charset="0"/>
              </a:rPr>
              <a:t>How the comparison was made, and how to read it</a:t>
            </a:r>
            <a:endParaRPr lang="en-IN" sz="2600" b="1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1AE598B-62B8-BE5A-560D-B821EAEBB58F}"/>
              </a:ext>
            </a:extLst>
          </p:cNvPr>
          <p:cNvSpPr/>
          <p:nvPr/>
        </p:nvSpPr>
        <p:spPr>
          <a:xfrm>
            <a:off x="0" y="812800"/>
            <a:ext cx="12192000" cy="50800"/>
          </a:xfrm>
          <a:prstGeom prst="rect">
            <a:avLst/>
          </a:prstGeom>
          <a:solidFill>
            <a:srgbClr val="00808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E79F98F-F952-B71B-A1E2-36DF65C237CD}"/>
              </a:ext>
            </a:extLst>
          </p:cNvPr>
          <p:cNvSpPr txBox="1"/>
          <p:nvPr/>
        </p:nvSpPr>
        <p:spPr>
          <a:xfrm>
            <a:off x="11430000" y="6477000"/>
            <a:ext cx="508000" cy="261610"/>
          </a:xfrm>
          <a:prstGeom prst="rect">
            <a:avLst/>
          </a:prstGeom>
          <a:noFill/>
        </p:spPr>
        <p:txBody>
          <a:bodyPr vert="horz" wrap="square" lIns="50800" rIns="50800" rtlCol="0" anchor="t">
            <a:spAutoFit/>
          </a:bodyPr>
          <a:lstStyle/>
          <a:p>
            <a:pPr algn="r"/>
            <a:r>
              <a:rPr lang="en-IN" sz="1100">
                <a:solidFill>
                  <a:srgbClr val="787878"/>
                </a:solidFill>
                <a:latin typeface="Calibri" panose="020F0502020204030204" pitchFamily="34" charset="0"/>
              </a:rPr>
              <a:t>8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D149AC1-2B57-815D-BD27-A3EED33FA8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7567427"/>
              </p:ext>
            </p:extLst>
          </p:nvPr>
        </p:nvGraphicFramePr>
        <p:xfrm>
          <a:off x="508000" y="1117600"/>
          <a:ext cx="11176000" cy="3022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10510">
                  <a:extLst>
                    <a:ext uri="{9D8B030D-6E8A-4147-A177-3AD203B41FA5}">
                      <a16:colId xmlns:a16="http://schemas.microsoft.com/office/drawing/2014/main" val="3133627526"/>
                    </a:ext>
                  </a:extLst>
                </a:gridCol>
                <a:gridCol w="2848784">
                  <a:extLst>
                    <a:ext uri="{9D8B030D-6E8A-4147-A177-3AD203B41FA5}">
                      <a16:colId xmlns:a16="http://schemas.microsoft.com/office/drawing/2014/main" val="851546488"/>
                    </a:ext>
                  </a:extLst>
                </a:gridCol>
                <a:gridCol w="3287059">
                  <a:extLst>
                    <a:ext uri="{9D8B030D-6E8A-4147-A177-3AD203B41FA5}">
                      <a16:colId xmlns:a16="http://schemas.microsoft.com/office/drawing/2014/main" val="3783178357"/>
                    </a:ext>
                  </a:extLst>
                </a:gridCol>
                <a:gridCol w="2629647">
                  <a:extLst>
                    <a:ext uri="{9D8B030D-6E8A-4147-A177-3AD203B41FA5}">
                      <a16:colId xmlns:a16="http://schemas.microsoft.com/office/drawing/2014/main" val="397187932"/>
                    </a:ext>
                  </a:extLst>
                </a:gridCol>
              </a:tblGrid>
              <a:tr h="431800">
                <a:tc>
                  <a:txBody>
                    <a:bodyPr/>
                    <a:lstStyle/>
                    <a:p>
                      <a:r>
                        <a:rPr lang="en-IN" sz="1300" b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Model</a:t>
                      </a:r>
                    </a:p>
                  </a:txBody>
                  <a:tcPr marT="25400" marB="25400">
                    <a:solidFill>
                      <a:srgbClr val="1632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300" b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Based on</a:t>
                      </a:r>
                    </a:p>
                  </a:txBody>
                  <a:tcPr marT="25400" marB="25400">
                    <a:solidFill>
                      <a:srgbClr val="1632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300" b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Reads</a:t>
                      </a:r>
                    </a:p>
                  </a:txBody>
                  <a:tcPr marT="25400" marB="25400">
                    <a:solidFill>
                      <a:srgbClr val="1632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300" b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Classifies with</a:t>
                      </a:r>
                    </a:p>
                  </a:txBody>
                  <a:tcPr marT="25400" marB="25400">
                    <a:solidFill>
                      <a:srgbClr val="1632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6642132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r>
                        <a:rPr lang="en-IN" sz="1300" b="0">
                          <a:solidFill>
                            <a:srgbClr val="282828"/>
                          </a:solidFill>
                          <a:latin typeface="Calibri" panose="020F0502020204030204" pitchFamily="34" charset="0"/>
                        </a:rPr>
                        <a:t>DeepLog-style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300" b="0">
                          <a:solidFill>
                            <a:srgbClr val="282828"/>
                          </a:solidFill>
                          <a:latin typeface="Calibri" panose="020F0502020204030204" pitchFamily="34" charset="0"/>
                        </a:rPr>
                        <a:t>Du et al., CCS 2017</a:t>
                      </a:r>
                      <a:endParaRPr lang="en-IN" sz="1300" b="0">
                        <a:solidFill>
                          <a:srgbClr val="282828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300" b="0">
                          <a:solidFill>
                            <a:srgbClr val="282828"/>
                          </a:solidFill>
                          <a:latin typeface="Calibri" panose="020F0502020204030204" pitchFamily="34" charset="0"/>
                        </a:rPr>
                        <a:t>tokens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300" b="0">
                          <a:solidFill>
                            <a:srgbClr val="282828"/>
                          </a:solidFill>
                          <a:latin typeface="Calibri" panose="020F0502020204030204" pitchFamily="34" charset="0"/>
                        </a:rPr>
                        <a:t>2-layer LSTM, last state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0866986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r>
                        <a:rPr lang="en-IN" sz="1300" b="0">
                          <a:solidFill>
                            <a:srgbClr val="282828"/>
                          </a:solidFill>
                          <a:latin typeface="Calibri" panose="020F0502020204030204" pitchFamily="34" charset="0"/>
                        </a:rPr>
                        <a:t>LogRobust-style</a:t>
                      </a:r>
                    </a:p>
                  </a:txBody>
                  <a:tcPr marT="25400" marB="25400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a-DK" sz="1300" b="0">
                          <a:solidFill>
                            <a:srgbClr val="282828"/>
                          </a:solidFill>
                          <a:latin typeface="Calibri" panose="020F0502020204030204" pitchFamily="34" charset="0"/>
                        </a:rPr>
                        <a:t>Zhang et al., FSE 2019</a:t>
                      </a:r>
                      <a:endParaRPr lang="en-IN" sz="1300" b="0">
                        <a:solidFill>
                          <a:srgbClr val="282828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T="25400" marB="25400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300" b="0">
                          <a:solidFill>
                            <a:srgbClr val="282828"/>
                          </a:solidFill>
                          <a:latin typeface="Calibri" panose="020F0502020204030204" pitchFamily="34" charset="0"/>
                        </a:rPr>
                        <a:t>tokens</a:t>
                      </a:r>
                    </a:p>
                  </a:txBody>
                  <a:tcPr marT="25400" marB="25400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300" b="0">
                          <a:solidFill>
                            <a:srgbClr val="282828"/>
                          </a:solidFill>
                          <a:latin typeface="Calibri" panose="020F0502020204030204" pitchFamily="34" charset="0"/>
                        </a:rPr>
                        <a:t>attention BiLSTM</a:t>
                      </a:r>
                    </a:p>
                  </a:txBody>
                  <a:tcPr marT="25400" marB="25400">
                    <a:solidFill>
                      <a:srgbClr val="F0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3374294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r>
                        <a:rPr lang="en-IN" sz="1300" b="0">
                          <a:solidFill>
                            <a:srgbClr val="282828"/>
                          </a:solidFill>
                          <a:latin typeface="Calibri" panose="020F0502020204030204" pitchFamily="34" charset="0"/>
                        </a:rPr>
                        <a:t>Span + timing LSTM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a-DK" sz="1300" b="0">
                          <a:solidFill>
                            <a:srgbClr val="282828"/>
                          </a:solidFill>
                          <a:latin typeface="Calibri" panose="020F0502020204030204" pitchFamily="34" charset="0"/>
                        </a:rPr>
                        <a:t>after Nedelkoski et al., 2019</a:t>
                      </a:r>
                      <a:endParaRPr lang="en-IN" sz="1300" b="0">
                        <a:solidFill>
                          <a:srgbClr val="282828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300" b="0">
                          <a:solidFill>
                            <a:srgbClr val="282828"/>
                          </a:solidFill>
                          <a:latin typeface="Calibri" panose="020F0502020204030204" pitchFamily="34" charset="0"/>
                        </a:rPr>
                        <a:t>tokens + duration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300" b="0">
                          <a:solidFill>
                            <a:srgbClr val="282828"/>
                          </a:solidFill>
                          <a:latin typeface="Calibri" panose="020F0502020204030204" pitchFamily="34" charset="0"/>
                        </a:rPr>
                        <a:t>LSTM, last state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2836360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r>
                        <a:rPr lang="en-IN" sz="1300" b="0">
                          <a:solidFill>
                            <a:srgbClr val="282828"/>
                          </a:solidFill>
                          <a:latin typeface="Calibri" panose="020F0502020204030204" pitchFamily="34" charset="0"/>
                        </a:rPr>
                        <a:t>TextCNN</a:t>
                      </a:r>
                    </a:p>
                  </a:txBody>
                  <a:tcPr marT="25400" marB="25400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300" b="0">
                          <a:solidFill>
                            <a:srgbClr val="282828"/>
                          </a:solidFill>
                          <a:latin typeface="Calibri" panose="020F0502020204030204" pitchFamily="34" charset="0"/>
                        </a:rPr>
                        <a:t>Kim, EMNLP 2014</a:t>
                      </a:r>
                    </a:p>
                  </a:txBody>
                  <a:tcPr marT="25400" marB="25400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300" b="0">
                          <a:solidFill>
                            <a:srgbClr val="282828"/>
                          </a:solidFill>
                          <a:latin typeface="Calibri" panose="020F0502020204030204" pitchFamily="34" charset="0"/>
                        </a:rPr>
                        <a:t>tokens</a:t>
                      </a:r>
                    </a:p>
                  </a:txBody>
                  <a:tcPr marT="25400" marB="25400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300" b="0">
                          <a:solidFill>
                            <a:srgbClr val="282828"/>
                          </a:solidFill>
                          <a:latin typeface="Calibri" panose="020F0502020204030204" pitchFamily="34" charset="0"/>
                        </a:rPr>
                        <a:t>conv 2/3/4 + max-pool</a:t>
                      </a:r>
                    </a:p>
                  </a:txBody>
                  <a:tcPr marT="25400" marB="25400">
                    <a:solidFill>
                      <a:srgbClr val="F0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3707125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r>
                        <a:rPr lang="en-IN" sz="1300" b="0">
                          <a:solidFill>
                            <a:srgbClr val="282828"/>
                          </a:solidFill>
                          <a:latin typeface="Calibri" panose="020F0502020204030204" pitchFamily="34" charset="0"/>
                        </a:rPr>
                        <a:t>DeepLog-style, our inputs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300" b="0">
                          <a:solidFill>
                            <a:srgbClr val="282828"/>
                          </a:solidFill>
                          <a:latin typeface="Calibri" panose="020F0502020204030204" pitchFamily="34" charset="0"/>
                        </a:rPr>
                        <a:t>Du et al. backbone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300" b="0">
                          <a:solidFill>
                            <a:srgbClr val="282828"/>
                          </a:solidFill>
                          <a:latin typeface="Calibri" panose="020F0502020204030204" pitchFamily="34" charset="0"/>
                        </a:rPr>
                        <a:t>same inputs as ours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300" b="0">
                          <a:solidFill>
                            <a:srgbClr val="282828"/>
                          </a:solidFill>
                          <a:latin typeface="Calibri" panose="020F0502020204030204" pitchFamily="34" charset="0"/>
                        </a:rPr>
                        <a:t>2-layer LSTM, last state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6911591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r>
                        <a:rPr lang="en-IN" sz="1300" b="1">
                          <a:solidFill>
                            <a:srgbClr val="282828"/>
                          </a:solidFill>
                          <a:latin typeface="Calibri" panose="020F0502020204030204" pitchFamily="34" charset="0"/>
                        </a:rPr>
                        <a:t>Proposed</a:t>
                      </a:r>
                    </a:p>
                  </a:txBody>
                  <a:tcPr marT="25400" marB="25400">
                    <a:solidFill>
                      <a:srgbClr val="EBF5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300" b="1">
                          <a:solidFill>
                            <a:srgbClr val="282828"/>
                          </a:solidFill>
                          <a:latin typeface="Calibri" panose="020F0502020204030204" pitchFamily="34" charset="0"/>
                        </a:rPr>
                        <a:t>this work</a:t>
                      </a:r>
                    </a:p>
                  </a:txBody>
                  <a:tcPr marT="25400" marB="25400">
                    <a:solidFill>
                      <a:srgbClr val="EBF5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1">
                          <a:solidFill>
                            <a:srgbClr val="282828"/>
                          </a:solidFill>
                          <a:latin typeface="Calibri" panose="020F0502020204030204" pitchFamily="34" charset="0"/>
                        </a:rPr>
                        <a:t>tokens + host, agent, depth, duration + 9 features</a:t>
                      </a:r>
                      <a:endParaRPr lang="en-IN" sz="1300" b="1">
                        <a:solidFill>
                          <a:srgbClr val="282828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T="25400" marB="25400">
                    <a:solidFill>
                      <a:srgbClr val="EBF5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300" b="1">
                          <a:solidFill>
                            <a:srgbClr val="282828"/>
                          </a:solidFill>
                          <a:latin typeface="Calibri" panose="020F0502020204030204" pitchFamily="34" charset="0"/>
                        </a:rPr>
                        <a:t>attention BiLSTM + max-pool</a:t>
                      </a:r>
                    </a:p>
                  </a:txBody>
                  <a:tcPr marT="25400" marB="25400">
                    <a:solidFill>
                      <a:srgbClr val="EBF5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0158150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DEDBC052-137B-B48F-B940-82CEBA5D4665}"/>
              </a:ext>
            </a:extLst>
          </p:cNvPr>
          <p:cNvSpPr txBox="1"/>
          <p:nvPr/>
        </p:nvSpPr>
        <p:spPr>
          <a:xfrm>
            <a:off x="508000" y="4254500"/>
            <a:ext cx="11176000" cy="126957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228600" indent="-228600">
              <a:spcAft>
                <a:spcPts val="500"/>
              </a:spcAft>
              <a:buClr>
                <a:srgbClr val="008080"/>
              </a:buClr>
              <a:buFont typeface="+mj-lt"/>
              <a:buChar char="•"/>
            </a:pPr>
            <a:r>
              <a:rPr lang="en-US" sz="1600">
                <a:solidFill>
                  <a:srgbClr val="282828"/>
                </a:solidFill>
                <a:latin typeface="Calibri" panose="020F0502020204030204" pitchFamily="34" charset="0"/>
              </a:rPr>
              <a:t>Same split, seed, optimiser, class weights and early stopping for every model</a:t>
            </a:r>
          </a:p>
          <a:p>
            <a:pPr marL="228600" indent="-228600">
              <a:spcAft>
                <a:spcPts val="500"/>
              </a:spcAft>
              <a:buClr>
                <a:srgbClr val="008080"/>
              </a:buClr>
              <a:buFont typeface="+mj-lt"/>
              <a:buChar char="•"/>
            </a:pPr>
            <a:r>
              <a:rPr lang="en-US" sz="1600">
                <a:solidFill>
                  <a:srgbClr val="282828"/>
                </a:solidFill>
                <a:latin typeface="Calibri" panose="020F0502020204030204" pitchFamily="34" charset="0"/>
              </a:rPr>
              <a:t>Three competitors see only operation tokens; one adds timing; one gets exactly our inputs, to separate input from architecture</a:t>
            </a:r>
          </a:p>
          <a:p>
            <a:pPr marL="228600" indent="-228600">
              <a:spcAft>
                <a:spcPts val="500"/>
              </a:spcAft>
              <a:buClr>
                <a:srgbClr val="008080"/>
              </a:buClr>
              <a:buFont typeface="+mj-lt"/>
              <a:buChar char="•"/>
            </a:pPr>
            <a:r>
              <a:rPr lang="en-US" sz="1600">
                <a:solidFill>
                  <a:srgbClr val="282828"/>
                </a:solidFill>
                <a:latin typeface="Calibri" panose="020F0502020204030204" pitchFamily="34" charset="0"/>
              </a:rPr>
              <a:t>The order-free gradient-boosting baseline (0.7037) already shows this data rewards counts over sequence structure</a:t>
            </a:r>
          </a:p>
          <a:p>
            <a:pPr marL="228600" indent="-228600">
              <a:spcAft>
                <a:spcPts val="500"/>
              </a:spcAft>
              <a:buClr>
                <a:srgbClr val="008080"/>
              </a:buClr>
              <a:buFont typeface="+mj-lt"/>
              <a:buChar char="•"/>
            </a:pPr>
            <a:r>
              <a:rPr lang="en-US" sz="1600">
                <a:solidFill>
                  <a:srgbClr val="282828"/>
                </a:solidFill>
                <a:latin typeface="Calibri" panose="020F0502020204030204" pitchFamily="34" charset="0"/>
              </a:rPr>
              <a:t>One run each: small differences are within seed noise</a:t>
            </a:r>
            <a:endParaRPr lang="en-IN" sz="1600">
              <a:solidFill>
                <a:srgbClr val="282828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17703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B3F9E94-1E46-EA8E-BBD0-8A873C3D65B9}"/>
              </a:ext>
            </a:extLst>
          </p:cNvPr>
          <p:cNvSpPr/>
          <p:nvPr/>
        </p:nvSpPr>
        <p:spPr>
          <a:xfrm>
            <a:off x="0" y="0"/>
            <a:ext cx="12192000" cy="812800"/>
          </a:xfrm>
          <a:prstGeom prst="rect">
            <a:avLst/>
          </a:prstGeom>
          <a:solidFill>
            <a:srgbClr val="16325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AC44D68-846C-6074-78B7-FECF4BD254D1}"/>
              </a:ext>
            </a:extLst>
          </p:cNvPr>
          <p:cNvSpPr txBox="1"/>
          <p:nvPr/>
        </p:nvSpPr>
        <p:spPr>
          <a:xfrm>
            <a:off x="457200" y="65445"/>
            <a:ext cx="11277600" cy="492443"/>
          </a:xfrm>
          <a:prstGeom prst="rect">
            <a:avLst/>
          </a:prstGeom>
          <a:noFill/>
        </p:spPr>
        <p:txBody>
          <a:bodyPr vert="horz" wrap="square" lIns="50800" rIns="50800" rtlCol="0" anchor="ctr">
            <a:spAutoFit/>
          </a:bodyPr>
          <a:lstStyle/>
          <a:p>
            <a:r>
              <a:rPr lang="en-US" sz="2600" b="1">
                <a:solidFill>
                  <a:srgbClr val="FFFFFF"/>
                </a:solidFill>
                <a:latin typeface="Calibri" panose="020F0502020204030204" pitchFamily="34" charset="0"/>
              </a:rPr>
              <a:t>Results on 10,513 unseen traces</a:t>
            </a:r>
            <a:endParaRPr lang="en-IN" sz="2600" b="1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2D52DCC-E4EA-D34E-A606-FB70C6D7C462}"/>
              </a:ext>
            </a:extLst>
          </p:cNvPr>
          <p:cNvSpPr/>
          <p:nvPr/>
        </p:nvSpPr>
        <p:spPr>
          <a:xfrm>
            <a:off x="0" y="812800"/>
            <a:ext cx="12192000" cy="50800"/>
          </a:xfrm>
          <a:prstGeom prst="rect">
            <a:avLst/>
          </a:prstGeom>
          <a:solidFill>
            <a:srgbClr val="00808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8F9A51D-A8C3-3296-85C4-CBB831370F80}"/>
              </a:ext>
            </a:extLst>
          </p:cNvPr>
          <p:cNvSpPr txBox="1"/>
          <p:nvPr/>
        </p:nvSpPr>
        <p:spPr>
          <a:xfrm>
            <a:off x="11430000" y="6477000"/>
            <a:ext cx="508000" cy="261610"/>
          </a:xfrm>
          <a:prstGeom prst="rect">
            <a:avLst/>
          </a:prstGeom>
          <a:noFill/>
        </p:spPr>
        <p:txBody>
          <a:bodyPr vert="horz" wrap="square" lIns="50800" rIns="50800" rtlCol="0" anchor="t">
            <a:spAutoFit/>
          </a:bodyPr>
          <a:lstStyle/>
          <a:p>
            <a:pPr algn="r"/>
            <a:r>
              <a:rPr lang="en-IN" sz="1100">
                <a:solidFill>
                  <a:srgbClr val="787878"/>
                </a:solidFill>
                <a:latin typeface="Calibri" panose="020F0502020204030204" pitchFamily="34" charset="0"/>
              </a:rPr>
              <a:t>9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1FEA0F3-C6B5-E8EC-8EE8-FB2554E8BEA2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1324962"/>
            <a:ext cx="7112000" cy="2684077"/>
          </a:xfrm>
          <a:prstGeom prst="rect">
            <a:avLst/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6A5942B-EE71-ACEE-B357-22478BC72B20}"/>
              </a:ext>
            </a:extLst>
          </p:cNvPr>
          <p:cNvSpPr/>
          <p:nvPr/>
        </p:nvSpPr>
        <p:spPr>
          <a:xfrm>
            <a:off x="7874000" y="1168400"/>
            <a:ext cx="1905000" cy="1092200"/>
          </a:xfrm>
          <a:prstGeom prst="roundRect">
            <a:avLst/>
          </a:prstGeom>
          <a:solidFill>
            <a:srgbClr val="F0F4F7"/>
          </a:solidFill>
          <a:ln>
            <a:solidFill>
              <a:srgbClr val="C3CDD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33639E9-9706-29E2-5A58-AE835F35F95E}"/>
              </a:ext>
            </a:extLst>
          </p:cNvPr>
          <p:cNvSpPr txBox="1"/>
          <p:nvPr/>
        </p:nvSpPr>
        <p:spPr>
          <a:xfrm>
            <a:off x="7874000" y="1244600"/>
            <a:ext cx="1905000" cy="553998"/>
          </a:xfrm>
          <a:prstGeom prst="rect">
            <a:avLst/>
          </a:prstGeom>
          <a:noFill/>
        </p:spPr>
        <p:txBody>
          <a:bodyPr vert="horz" wrap="square" lIns="50800" rIns="50800" rtlCol="0" anchor="t">
            <a:spAutoFit/>
          </a:bodyPr>
          <a:lstStyle/>
          <a:p>
            <a:pPr algn="ctr"/>
            <a:r>
              <a:rPr lang="en-IN" sz="3000" b="1">
                <a:solidFill>
                  <a:srgbClr val="16325C"/>
                </a:solidFill>
                <a:latin typeface="Calibri" panose="020F0502020204030204" pitchFamily="34" charset="0"/>
              </a:rPr>
              <a:t>0.7464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55F59D7-BDBB-4DA1-66CA-611543EBBD86}"/>
              </a:ext>
            </a:extLst>
          </p:cNvPr>
          <p:cNvSpPr txBox="1"/>
          <p:nvPr/>
        </p:nvSpPr>
        <p:spPr>
          <a:xfrm>
            <a:off x="7924800" y="1803400"/>
            <a:ext cx="1803400" cy="276999"/>
          </a:xfrm>
          <a:prstGeom prst="rect">
            <a:avLst/>
          </a:prstGeom>
          <a:noFill/>
        </p:spPr>
        <p:txBody>
          <a:bodyPr vert="horz" wrap="square" lIns="50800" rIns="50800" rtlCol="0" anchor="t">
            <a:spAutoFit/>
          </a:bodyPr>
          <a:lstStyle/>
          <a:p>
            <a:pPr algn="ctr"/>
            <a:r>
              <a:rPr lang="en-IN" sz="1200">
                <a:solidFill>
                  <a:srgbClr val="787878"/>
                </a:solidFill>
                <a:latin typeface="Calibri" panose="020F0502020204030204" pitchFamily="34" charset="0"/>
              </a:rPr>
              <a:t>macro-F1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3A82460-4C0A-1ABB-0BDC-D29E5237D934}"/>
              </a:ext>
            </a:extLst>
          </p:cNvPr>
          <p:cNvSpPr/>
          <p:nvPr/>
        </p:nvSpPr>
        <p:spPr>
          <a:xfrm>
            <a:off x="9969500" y="1168400"/>
            <a:ext cx="1905000" cy="1092200"/>
          </a:xfrm>
          <a:prstGeom prst="roundRect">
            <a:avLst/>
          </a:prstGeom>
          <a:solidFill>
            <a:srgbClr val="F0F4F7"/>
          </a:solidFill>
          <a:ln>
            <a:solidFill>
              <a:srgbClr val="C3CDD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BDD9246-0E72-E65A-8396-37054672B461}"/>
              </a:ext>
            </a:extLst>
          </p:cNvPr>
          <p:cNvSpPr txBox="1"/>
          <p:nvPr/>
        </p:nvSpPr>
        <p:spPr>
          <a:xfrm>
            <a:off x="9969500" y="1244600"/>
            <a:ext cx="1905000" cy="553998"/>
          </a:xfrm>
          <a:prstGeom prst="rect">
            <a:avLst/>
          </a:prstGeom>
          <a:noFill/>
        </p:spPr>
        <p:txBody>
          <a:bodyPr vert="horz" wrap="square" lIns="50800" rIns="50800" rtlCol="0" anchor="t">
            <a:spAutoFit/>
          </a:bodyPr>
          <a:lstStyle/>
          <a:p>
            <a:pPr algn="ctr"/>
            <a:r>
              <a:rPr lang="en-IN" sz="3000" b="1">
                <a:solidFill>
                  <a:srgbClr val="16325C"/>
                </a:solidFill>
                <a:latin typeface="Calibri" panose="020F0502020204030204" pitchFamily="34" charset="0"/>
              </a:rPr>
              <a:t>0.7690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EEA1CB1-7F89-05F8-FAEA-530CACF88978}"/>
              </a:ext>
            </a:extLst>
          </p:cNvPr>
          <p:cNvSpPr txBox="1"/>
          <p:nvPr/>
        </p:nvSpPr>
        <p:spPr>
          <a:xfrm>
            <a:off x="10020300" y="1803400"/>
            <a:ext cx="1803400" cy="276999"/>
          </a:xfrm>
          <a:prstGeom prst="rect">
            <a:avLst/>
          </a:prstGeom>
          <a:noFill/>
        </p:spPr>
        <p:txBody>
          <a:bodyPr vert="horz" wrap="square" lIns="50800" rIns="50800" rtlCol="0" anchor="t">
            <a:spAutoFit/>
          </a:bodyPr>
          <a:lstStyle/>
          <a:p>
            <a:pPr algn="ctr"/>
            <a:r>
              <a:rPr lang="en-IN" sz="1200">
                <a:solidFill>
                  <a:srgbClr val="787878"/>
                </a:solidFill>
                <a:latin typeface="Calibri" panose="020F0502020204030204" pitchFamily="34" charset="0"/>
              </a:rPr>
              <a:t>accuracy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C5E5C9B3-6557-E3FE-2834-36B7DE2A8607}"/>
              </a:ext>
            </a:extLst>
          </p:cNvPr>
          <p:cNvSpPr/>
          <p:nvPr/>
        </p:nvSpPr>
        <p:spPr>
          <a:xfrm>
            <a:off x="7874000" y="2438400"/>
            <a:ext cx="1905000" cy="1092200"/>
          </a:xfrm>
          <a:prstGeom prst="roundRect">
            <a:avLst/>
          </a:prstGeom>
          <a:solidFill>
            <a:srgbClr val="F0F4F7"/>
          </a:solidFill>
          <a:ln>
            <a:solidFill>
              <a:srgbClr val="C3CDD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A79C0CE-53F9-C5A3-F2FF-DD47A0C91791}"/>
              </a:ext>
            </a:extLst>
          </p:cNvPr>
          <p:cNvSpPr txBox="1"/>
          <p:nvPr/>
        </p:nvSpPr>
        <p:spPr>
          <a:xfrm>
            <a:off x="7874000" y="2514600"/>
            <a:ext cx="1905000" cy="553998"/>
          </a:xfrm>
          <a:prstGeom prst="rect">
            <a:avLst/>
          </a:prstGeom>
          <a:noFill/>
        </p:spPr>
        <p:txBody>
          <a:bodyPr vert="horz" wrap="square" lIns="50800" rIns="50800" rtlCol="0" anchor="t">
            <a:spAutoFit/>
          </a:bodyPr>
          <a:lstStyle/>
          <a:p>
            <a:pPr algn="ctr"/>
            <a:r>
              <a:rPr lang="en-IN" sz="3000" b="1">
                <a:solidFill>
                  <a:srgbClr val="008080"/>
                </a:solidFill>
                <a:latin typeface="Calibri" panose="020F0502020204030204" pitchFamily="34" charset="0"/>
              </a:rPr>
              <a:t>0.6829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FE4CC3A-ECA4-B5C6-551C-7AB7FD9F54A0}"/>
              </a:ext>
            </a:extLst>
          </p:cNvPr>
          <p:cNvSpPr txBox="1"/>
          <p:nvPr/>
        </p:nvSpPr>
        <p:spPr>
          <a:xfrm>
            <a:off x="7924800" y="3073400"/>
            <a:ext cx="1803400" cy="276999"/>
          </a:xfrm>
          <a:prstGeom prst="rect">
            <a:avLst/>
          </a:prstGeom>
          <a:noFill/>
        </p:spPr>
        <p:txBody>
          <a:bodyPr vert="horz" wrap="square" lIns="50800" rIns="50800" rtlCol="0" anchor="t">
            <a:spAutoFit/>
          </a:bodyPr>
          <a:lstStyle/>
          <a:p>
            <a:pPr algn="ctr"/>
            <a:r>
              <a:rPr lang="en-IN" sz="1200">
                <a:solidFill>
                  <a:srgbClr val="787878"/>
                </a:solidFill>
                <a:latin typeface="Calibri" panose="020F0502020204030204" pitchFamily="34" charset="0"/>
              </a:rPr>
              <a:t>macro-F1 excl. REAL_BUG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B28B973-0A18-B7E5-65AB-D3092FF57C17}"/>
              </a:ext>
            </a:extLst>
          </p:cNvPr>
          <p:cNvSpPr/>
          <p:nvPr/>
        </p:nvSpPr>
        <p:spPr>
          <a:xfrm>
            <a:off x="9969500" y="2438400"/>
            <a:ext cx="1905000" cy="1092200"/>
          </a:xfrm>
          <a:prstGeom prst="roundRect">
            <a:avLst/>
          </a:prstGeom>
          <a:solidFill>
            <a:srgbClr val="F0F4F7"/>
          </a:solidFill>
          <a:ln>
            <a:solidFill>
              <a:srgbClr val="C3CDD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1082051-95DC-EC1A-3CFD-DDC64DE32C19}"/>
              </a:ext>
            </a:extLst>
          </p:cNvPr>
          <p:cNvSpPr txBox="1"/>
          <p:nvPr/>
        </p:nvSpPr>
        <p:spPr>
          <a:xfrm>
            <a:off x="9969500" y="2514600"/>
            <a:ext cx="1905000" cy="553998"/>
          </a:xfrm>
          <a:prstGeom prst="rect">
            <a:avLst/>
          </a:prstGeom>
          <a:noFill/>
        </p:spPr>
        <p:txBody>
          <a:bodyPr vert="horz" wrap="square" lIns="50800" rIns="50800" rtlCol="0" anchor="t">
            <a:spAutoFit/>
          </a:bodyPr>
          <a:lstStyle/>
          <a:p>
            <a:pPr algn="ctr"/>
            <a:r>
              <a:rPr lang="en-IN" sz="3000" b="1">
                <a:solidFill>
                  <a:srgbClr val="28963C"/>
                </a:solidFill>
                <a:latin typeface="Calibri" panose="020F0502020204030204" pitchFamily="34" charset="0"/>
              </a:rPr>
              <a:t>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91AABB0-3F5B-A7C6-E574-4E3EC78A6F18}"/>
              </a:ext>
            </a:extLst>
          </p:cNvPr>
          <p:cNvSpPr txBox="1"/>
          <p:nvPr/>
        </p:nvSpPr>
        <p:spPr>
          <a:xfrm>
            <a:off x="10020300" y="3073400"/>
            <a:ext cx="1803400" cy="276999"/>
          </a:xfrm>
          <a:prstGeom prst="rect">
            <a:avLst/>
          </a:prstGeom>
          <a:noFill/>
        </p:spPr>
        <p:txBody>
          <a:bodyPr vert="horz" wrap="square" lIns="50800" rIns="50800" rtlCol="0" anchor="t">
            <a:spAutoFit/>
          </a:bodyPr>
          <a:lstStyle/>
          <a:p>
            <a:pPr algn="ctr"/>
            <a:r>
              <a:rPr lang="en-IN" sz="1200">
                <a:solidFill>
                  <a:srgbClr val="787878"/>
                </a:solidFill>
                <a:latin typeface="Calibri" panose="020F0502020204030204" pitchFamily="34" charset="0"/>
              </a:rPr>
              <a:t>real bugs missed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455E2C39-7B46-6EB8-468E-D71B8B29CC55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6667" y="4381500"/>
            <a:ext cx="2777666" cy="2413000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82794E15-C6F4-28CF-BDE4-C976B25C589F}"/>
              </a:ext>
            </a:extLst>
          </p:cNvPr>
          <p:cNvSpPr txBox="1"/>
          <p:nvPr/>
        </p:nvSpPr>
        <p:spPr>
          <a:xfrm>
            <a:off x="4064000" y="4381500"/>
            <a:ext cx="7874000" cy="103105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228600" indent="-228600">
              <a:spcAft>
                <a:spcPts val="600"/>
              </a:spcAft>
              <a:buClr>
                <a:srgbClr val="008080"/>
              </a:buClr>
              <a:buFont typeface="+mj-lt"/>
              <a:buChar char="•"/>
            </a:pPr>
            <a:r>
              <a:rPr lang="en-US" sz="1700">
                <a:solidFill>
                  <a:srgbClr val="282828"/>
                </a:solidFill>
                <a:latin typeface="Calibri" panose="020F0502020204030204" pitchFamily="34" charset="0"/>
              </a:rPr>
              <a:t>DATA_FAULT recall 0.913; INFRA_FLAKE 0.792</a:t>
            </a:r>
          </a:p>
          <a:p>
            <a:pPr marL="228600" indent="-228600">
              <a:spcAft>
                <a:spcPts val="600"/>
              </a:spcAft>
              <a:buClr>
                <a:srgbClr val="008080"/>
              </a:buClr>
              <a:buFont typeface="+mj-lt"/>
              <a:buChar char="•"/>
            </a:pPr>
            <a:r>
              <a:rPr lang="en-US" sz="1700">
                <a:solidFill>
                  <a:srgbClr val="282828"/>
                </a:solidFill>
                <a:latin typeface="Calibri" panose="020F0502020204030204" pitchFamily="34" charset="0"/>
              </a:rPr>
              <a:t>PASS recall 0.603: about 40% of healthy traces flagged</a:t>
            </a:r>
          </a:p>
          <a:p>
            <a:pPr marL="228600" indent="-228600">
              <a:spcAft>
                <a:spcPts val="600"/>
              </a:spcAft>
              <a:buClr>
                <a:srgbClr val="008080"/>
              </a:buClr>
              <a:buFont typeface="+mj-lt"/>
              <a:buChar char="•"/>
            </a:pPr>
            <a:r>
              <a:rPr lang="en-US" sz="1700">
                <a:solidFill>
                  <a:srgbClr val="282828"/>
                </a:solidFill>
                <a:latin typeface="Calibri" panose="020F0502020204030204" pitchFamily="34" charset="0"/>
              </a:rPr>
              <a:t>ENV_FAULT is the weak class (F1 0.481)</a:t>
            </a:r>
            <a:endParaRPr lang="en-IN" sz="1700">
              <a:solidFill>
                <a:srgbClr val="282828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80917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1EF50E0-479E-3AE0-693D-01CF9DC4025A}"/>
              </a:ext>
            </a:extLst>
          </p:cNvPr>
          <p:cNvSpPr/>
          <p:nvPr/>
        </p:nvSpPr>
        <p:spPr>
          <a:xfrm>
            <a:off x="0" y="0"/>
            <a:ext cx="12192000" cy="812800"/>
          </a:xfrm>
          <a:prstGeom prst="rect">
            <a:avLst/>
          </a:prstGeom>
          <a:solidFill>
            <a:srgbClr val="16325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8916802-7E08-9336-631A-20DA7A234CAB}"/>
              </a:ext>
            </a:extLst>
          </p:cNvPr>
          <p:cNvSpPr txBox="1"/>
          <p:nvPr/>
        </p:nvSpPr>
        <p:spPr>
          <a:xfrm>
            <a:off x="457200" y="65445"/>
            <a:ext cx="11277600" cy="492443"/>
          </a:xfrm>
          <a:prstGeom prst="rect">
            <a:avLst/>
          </a:prstGeom>
          <a:noFill/>
        </p:spPr>
        <p:txBody>
          <a:bodyPr vert="horz" wrap="square" lIns="50800" rIns="50800" rtlCol="0" anchor="ctr">
            <a:spAutoFit/>
          </a:bodyPr>
          <a:lstStyle/>
          <a:p>
            <a:r>
              <a:rPr lang="en-US" sz="2600" b="1">
                <a:solidFill>
                  <a:srgbClr val="FFFFFF"/>
                </a:solidFill>
                <a:latin typeface="Calibri" panose="020F0502020204030204" pitchFamily="34" charset="0"/>
              </a:rPr>
              <a:t>What the numbers really say</a:t>
            </a:r>
            <a:endParaRPr lang="en-IN" sz="2600" b="1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F0A8385-0910-8A1D-D6D6-8500D293B1EE}"/>
              </a:ext>
            </a:extLst>
          </p:cNvPr>
          <p:cNvSpPr/>
          <p:nvPr/>
        </p:nvSpPr>
        <p:spPr>
          <a:xfrm>
            <a:off x="0" y="812800"/>
            <a:ext cx="12192000" cy="50800"/>
          </a:xfrm>
          <a:prstGeom prst="rect">
            <a:avLst/>
          </a:prstGeom>
          <a:solidFill>
            <a:srgbClr val="00808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21ABC72-C9B5-97D4-2AA8-1C97B1F0067E}"/>
              </a:ext>
            </a:extLst>
          </p:cNvPr>
          <p:cNvSpPr txBox="1"/>
          <p:nvPr/>
        </p:nvSpPr>
        <p:spPr>
          <a:xfrm>
            <a:off x="11430000" y="6477000"/>
            <a:ext cx="508000" cy="261610"/>
          </a:xfrm>
          <a:prstGeom prst="rect">
            <a:avLst/>
          </a:prstGeom>
          <a:noFill/>
        </p:spPr>
        <p:txBody>
          <a:bodyPr vert="horz" wrap="square" lIns="50800" rIns="50800" rtlCol="0" anchor="t">
            <a:spAutoFit/>
          </a:bodyPr>
          <a:lstStyle/>
          <a:p>
            <a:pPr algn="r"/>
            <a:r>
              <a:rPr lang="en-IN" sz="1100">
                <a:solidFill>
                  <a:srgbClr val="787878"/>
                </a:solidFill>
                <a:latin typeface="Calibri" panose="020F0502020204030204" pitchFamily="34" charset="0"/>
              </a:rPr>
              <a:t>10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61AB6B2-B40D-C2FB-9DD2-D3C6EFE61EB8}"/>
              </a:ext>
            </a:extLst>
          </p:cNvPr>
          <p:cNvSpPr txBox="1"/>
          <p:nvPr/>
        </p:nvSpPr>
        <p:spPr>
          <a:xfrm>
            <a:off x="635000" y="1168400"/>
            <a:ext cx="10922000" cy="350352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228600" indent="-228600">
              <a:spcAft>
                <a:spcPts val="1000"/>
              </a:spcAft>
              <a:buClr>
                <a:srgbClr val="008080"/>
              </a:buClr>
              <a:buFont typeface="+mj-lt"/>
              <a:buChar char="•"/>
            </a:pPr>
            <a:r>
              <a:rPr lang="en-US">
                <a:solidFill>
                  <a:srgbClr val="282828"/>
                </a:solidFill>
                <a:latin typeface="Calibri" panose="020F0502020204030204" pitchFamily="34" charset="0"/>
              </a:rPr>
              <a:t>REAL_BUG = 1.000 is a workload effect: those traces are short (median 7 spans, 2 hosts vs 88–134 spans, 9–12 hosts). We quote 0.6829 excluding it.</a:t>
            </a:r>
          </a:p>
          <a:p>
            <a:pPr marL="228600" indent="-228600">
              <a:spcAft>
                <a:spcPts val="1000"/>
              </a:spcAft>
              <a:buClr>
                <a:srgbClr val="008080"/>
              </a:buClr>
              <a:buFont typeface="+mj-lt"/>
              <a:buChar char="•"/>
            </a:pPr>
            <a:r>
              <a:rPr lang="en-US">
                <a:solidFill>
                  <a:srgbClr val="282828"/>
                </a:solidFill>
                <a:latin typeface="Calibri" panose="020F0502020204030204" pitchFamily="34" charset="0"/>
              </a:rPr>
              <a:t>Order carries little signal: an order-free baseline ties the BiLSTM on the other four classes; shuffling tokens did not hurt.</a:t>
            </a:r>
          </a:p>
          <a:p>
            <a:pPr marL="228600" indent="-228600">
              <a:spcAft>
                <a:spcPts val="1000"/>
              </a:spcAft>
              <a:buClr>
                <a:srgbClr val="008080"/>
              </a:buClr>
              <a:buFont typeface="+mj-lt"/>
              <a:buChar char="•"/>
            </a:pPr>
            <a:r>
              <a:rPr lang="en-US">
                <a:solidFill>
                  <a:srgbClr val="282828"/>
                </a:solidFill>
                <a:latin typeface="Calibri" panose="020F0502020204030204" pitchFamily="34" charset="0"/>
              </a:rPr>
              <a:t>Compound faults mostly fail: 77.8% of 20,010 multi-fault traces were called PASS.</a:t>
            </a:r>
          </a:p>
          <a:p>
            <a:pPr marL="228600" indent="-228600">
              <a:spcAft>
                <a:spcPts val="1000"/>
              </a:spcAft>
              <a:buClr>
                <a:srgbClr val="008080"/>
              </a:buClr>
              <a:buFont typeface="+mj-lt"/>
              <a:buChar char="•"/>
            </a:pPr>
            <a:r>
              <a:rPr lang="en-US">
                <a:solidFill>
                  <a:srgbClr val="282828"/>
                </a:solidFill>
                <a:latin typeface="Calibri" panose="020F0502020204030204" pitchFamily="34" charset="0"/>
              </a:rPr>
              <a:t>Architecture is not what wins: a plain 2-layer LSTM given our exact inputs scores 0.7672, slightly above our 0.7464. The gain comes from the inputs (timing, host, trace features).</a:t>
            </a:r>
          </a:p>
          <a:p>
            <a:pPr marL="228600" indent="-228600">
              <a:spcAft>
                <a:spcPts val="1000"/>
              </a:spcAft>
              <a:buClr>
                <a:srgbClr val="008080"/>
              </a:buClr>
              <a:buFont typeface="+mj-lt"/>
              <a:buChar char="•"/>
            </a:pPr>
            <a:r>
              <a:rPr lang="en-US">
                <a:solidFill>
                  <a:srgbClr val="282828"/>
                </a:solidFill>
                <a:latin typeface="Calibri" panose="020F0502020204030204" pitchFamily="34" charset="0"/>
              </a:rPr>
              <a:t>Stock Jaeger exports of our own traces were misjudged 4 times in 5 (20% accuracy, 90% called REAL_BUG), so the drift guard also demands an attested feature schema.</a:t>
            </a:r>
          </a:p>
          <a:p>
            <a:pPr marL="228600" indent="-228600">
              <a:spcAft>
                <a:spcPts val="1000"/>
              </a:spcAft>
              <a:buClr>
                <a:srgbClr val="008080"/>
              </a:buClr>
              <a:buFont typeface="+mj-lt"/>
              <a:buChar char="•"/>
            </a:pPr>
            <a:r>
              <a:rPr lang="en-US">
                <a:solidFill>
                  <a:srgbClr val="282828"/>
                </a:solidFill>
                <a:latin typeface="Calibri" panose="020F0502020204030204" pitchFamily="34" charset="0"/>
              </a:rPr>
              <a:t>Root-cause ranking is weak for data faults (top-3 47.6% vs random 38.1%) and is measured against a proxy label.</a:t>
            </a:r>
            <a:endParaRPr lang="en-IN">
              <a:solidFill>
                <a:srgbClr val="282828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42938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A4AF8C3-72CF-91F4-6241-E16361A7BD5E}"/>
              </a:ext>
            </a:extLst>
          </p:cNvPr>
          <p:cNvSpPr/>
          <p:nvPr/>
        </p:nvSpPr>
        <p:spPr>
          <a:xfrm>
            <a:off x="0" y="0"/>
            <a:ext cx="12192000" cy="812800"/>
          </a:xfrm>
          <a:prstGeom prst="rect">
            <a:avLst/>
          </a:prstGeom>
          <a:solidFill>
            <a:srgbClr val="16325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E837121-059B-F1FB-FB78-E2C0336D12B6}"/>
              </a:ext>
            </a:extLst>
          </p:cNvPr>
          <p:cNvSpPr txBox="1"/>
          <p:nvPr/>
        </p:nvSpPr>
        <p:spPr>
          <a:xfrm>
            <a:off x="457200" y="65445"/>
            <a:ext cx="11277600" cy="492443"/>
          </a:xfrm>
          <a:prstGeom prst="rect">
            <a:avLst/>
          </a:prstGeom>
          <a:noFill/>
        </p:spPr>
        <p:txBody>
          <a:bodyPr vert="horz" wrap="square" lIns="50800" rIns="50800" rtlCol="0" anchor="ctr">
            <a:spAutoFit/>
          </a:bodyPr>
          <a:lstStyle/>
          <a:p>
            <a:r>
              <a:rPr lang="en-US" sz="2600" b="1">
                <a:solidFill>
                  <a:srgbClr val="FFFFFF"/>
                </a:solidFill>
                <a:latin typeface="Calibri" panose="020F0502020204030204" pitchFamily="34" charset="0"/>
              </a:rPr>
              <a:t>Trust engine: autonomy is earned and can be lost</a:t>
            </a:r>
            <a:endParaRPr lang="en-IN" sz="2600" b="1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332963E-FC2A-8D39-DE53-623828A2D64B}"/>
              </a:ext>
            </a:extLst>
          </p:cNvPr>
          <p:cNvSpPr/>
          <p:nvPr/>
        </p:nvSpPr>
        <p:spPr>
          <a:xfrm>
            <a:off x="0" y="812800"/>
            <a:ext cx="12192000" cy="50800"/>
          </a:xfrm>
          <a:prstGeom prst="rect">
            <a:avLst/>
          </a:prstGeom>
          <a:solidFill>
            <a:srgbClr val="00808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6660089-7BA0-4BA3-46C6-5422EE4AEB5A}"/>
              </a:ext>
            </a:extLst>
          </p:cNvPr>
          <p:cNvSpPr txBox="1"/>
          <p:nvPr/>
        </p:nvSpPr>
        <p:spPr>
          <a:xfrm>
            <a:off x="11430000" y="6477000"/>
            <a:ext cx="508000" cy="261610"/>
          </a:xfrm>
          <a:prstGeom prst="rect">
            <a:avLst/>
          </a:prstGeom>
          <a:noFill/>
        </p:spPr>
        <p:txBody>
          <a:bodyPr vert="horz" wrap="square" lIns="50800" rIns="50800" rtlCol="0" anchor="t">
            <a:spAutoFit/>
          </a:bodyPr>
          <a:lstStyle/>
          <a:p>
            <a:pPr algn="r"/>
            <a:r>
              <a:rPr lang="en-IN" sz="1100">
                <a:solidFill>
                  <a:srgbClr val="787878"/>
                </a:solidFill>
                <a:latin typeface="Calibri" panose="020F0502020204030204" pitchFamily="34" charset="0"/>
              </a:rPr>
              <a:t>11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AEF7C98-AF39-0278-DB5C-63448010B202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0569" y="1016000"/>
            <a:ext cx="5760861" cy="2921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92124C5-7B0D-B87D-A6AE-8B97C49E18F6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488" y="4000500"/>
            <a:ext cx="6733024" cy="27305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2A43400-5DF7-2BE3-45B0-02DCE22A4E00}"/>
              </a:ext>
            </a:extLst>
          </p:cNvPr>
          <p:cNvSpPr txBox="1"/>
          <p:nvPr/>
        </p:nvSpPr>
        <p:spPr>
          <a:xfrm>
            <a:off x="7874000" y="1270000"/>
            <a:ext cx="4064000" cy="224676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228600" indent="-228600">
              <a:spcAft>
                <a:spcPts val="800"/>
              </a:spcAft>
              <a:buClr>
                <a:srgbClr val="008080"/>
              </a:buClr>
              <a:buFont typeface="+mj-lt"/>
              <a:buChar char="•"/>
            </a:pPr>
            <a:r>
              <a:rPr lang="en-US" sz="1500">
                <a:solidFill>
                  <a:srgbClr val="282828"/>
                </a:solidFill>
                <a:latin typeface="Calibri" panose="020F0502020204030204" pitchFamily="34" charset="0"/>
              </a:rPr>
              <a:t>Wilson bound: 17/20 correct is 85%, but the bound is 0.64</a:t>
            </a:r>
          </a:p>
          <a:p>
            <a:pPr marL="228600" indent="-228600">
              <a:spcAft>
                <a:spcPts val="800"/>
              </a:spcAft>
              <a:buClr>
                <a:srgbClr val="008080"/>
              </a:buClr>
              <a:buFont typeface="+mj-lt"/>
              <a:buChar char="•"/>
            </a:pPr>
            <a:r>
              <a:rPr lang="en-US" sz="1500">
                <a:solidFill>
                  <a:srgbClr val="282828"/>
                </a:solidFill>
                <a:latin typeface="Calibri" panose="020F0502020204030204" pitchFamily="34" charset="0"/>
              </a:rPr>
              <a:t>Replay on the test stream: T1 at decision 14, T2 at 906, T3 at 1,130</a:t>
            </a:r>
          </a:p>
          <a:p>
            <a:pPr marL="228600" indent="-228600">
              <a:spcAft>
                <a:spcPts val="800"/>
              </a:spcAft>
              <a:buClr>
                <a:srgbClr val="008080"/>
              </a:buClr>
              <a:buFont typeface="+mj-lt"/>
              <a:buChar char="•"/>
            </a:pPr>
            <a:r>
              <a:rPr lang="en-US" sz="1500">
                <a:solidFill>
                  <a:srgbClr val="282828"/>
                </a:solidFill>
                <a:latin typeface="Calibri" panose="020F0502020204030204" pitchFamily="34" charset="0"/>
              </a:rPr>
              <a:t>Injected faults: demoted twice at once</a:t>
            </a:r>
          </a:p>
          <a:p>
            <a:pPr marL="228600" indent="-228600">
              <a:spcAft>
                <a:spcPts val="800"/>
              </a:spcAft>
              <a:buClr>
                <a:srgbClr val="008080"/>
              </a:buClr>
              <a:buFont typeface="+mj-lt"/>
              <a:buChar char="•"/>
            </a:pPr>
            <a:r>
              <a:rPr lang="en-US" sz="1500">
                <a:solidFill>
                  <a:srgbClr val="282828"/>
                </a:solidFill>
                <a:latin typeface="Calibri" panose="020F0502020204030204" pitchFamily="34" charset="0"/>
              </a:rPr>
              <a:t>Bug found by the live run: tiers flipped 53 times in 50 decisions; fixed by counting only evidence since the last change</a:t>
            </a:r>
            <a:endParaRPr lang="en-IN" sz="1500">
              <a:solidFill>
                <a:srgbClr val="282828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87889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729F453-54BB-A585-8EB1-A28193E354D0}"/>
              </a:ext>
            </a:extLst>
          </p:cNvPr>
          <p:cNvSpPr/>
          <p:nvPr/>
        </p:nvSpPr>
        <p:spPr>
          <a:xfrm>
            <a:off x="0" y="0"/>
            <a:ext cx="12192000" cy="812800"/>
          </a:xfrm>
          <a:prstGeom prst="rect">
            <a:avLst/>
          </a:prstGeom>
          <a:solidFill>
            <a:srgbClr val="16325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EFB572-D51C-3BE7-39C7-1770A0025095}"/>
              </a:ext>
            </a:extLst>
          </p:cNvPr>
          <p:cNvSpPr txBox="1"/>
          <p:nvPr/>
        </p:nvSpPr>
        <p:spPr>
          <a:xfrm>
            <a:off x="457200" y="65445"/>
            <a:ext cx="11277600" cy="492443"/>
          </a:xfrm>
          <a:prstGeom prst="rect">
            <a:avLst/>
          </a:prstGeom>
          <a:noFill/>
        </p:spPr>
        <p:txBody>
          <a:bodyPr vert="horz" wrap="square" lIns="50800" rIns="50800" rtlCol="0" anchor="ctr">
            <a:spAutoFit/>
          </a:bodyPr>
          <a:lstStyle/>
          <a:p>
            <a:r>
              <a:rPr lang="en-US" sz="2600" b="1">
                <a:solidFill>
                  <a:srgbClr val="FFFFFF"/>
                </a:solidFill>
                <a:latin typeface="Calibri" panose="020F0502020204030204" pitchFamily="34" charset="0"/>
              </a:rPr>
              <a:t>Release gate: the most conservative signal wins</a:t>
            </a:r>
            <a:endParaRPr lang="en-IN" sz="2600" b="1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9CEA2A8-F062-91B0-99B0-FBBD14031EC4}"/>
              </a:ext>
            </a:extLst>
          </p:cNvPr>
          <p:cNvSpPr/>
          <p:nvPr/>
        </p:nvSpPr>
        <p:spPr>
          <a:xfrm>
            <a:off x="0" y="812800"/>
            <a:ext cx="12192000" cy="50800"/>
          </a:xfrm>
          <a:prstGeom prst="rect">
            <a:avLst/>
          </a:prstGeom>
          <a:solidFill>
            <a:srgbClr val="00808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DDB2A0C-D1CB-42E3-C9B7-27183A8B55C0}"/>
              </a:ext>
            </a:extLst>
          </p:cNvPr>
          <p:cNvSpPr txBox="1"/>
          <p:nvPr/>
        </p:nvSpPr>
        <p:spPr>
          <a:xfrm>
            <a:off x="11430000" y="6477000"/>
            <a:ext cx="508000" cy="261610"/>
          </a:xfrm>
          <a:prstGeom prst="rect">
            <a:avLst/>
          </a:prstGeom>
          <a:noFill/>
        </p:spPr>
        <p:txBody>
          <a:bodyPr vert="horz" wrap="square" lIns="50800" rIns="50800" rtlCol="0" anchor="t">
            <a:spAutoFit/>
          </a:bodyPr>
          <a:lstStyle/>
          <a:p>
            <a:pPr algn="r"/>
            <a:r>
              <a:rPr lang="en-IN" sz="1100">
                <a:solidFill>
                  <a:srgbClr val="787878"/>
                </a:solidFill>
                <a:latin typeface="Calibri" panose="020F0502020204030204" pitchFamily="34" charset="0"/>
              </a:rPr>
              <a:t>12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C03E6D6-ADC9-47F8-5B99-959FC580F844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1414702"/>
            <a:ext cx="5588000" cy="3495197"/>
          </a:xfrm>
          <a:prstGeom prst="rect">
            <a:avLst/>
          </a:prstGeom>
        </p:spPr>
      </p:pic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56B851BC-9D8A-B067-67F0-F4EBFE5BE4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0582100"/>
              </p:ext>
            </p:extLst>
          </p:nvPr>
        </p:nvGraphicFramePr>
        <p:xfrm>
          <a:off x="6223000" y="1270000"/>
          <a:ext cx="5715000" cy="3352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28750">
                  <a:extLst>
                    <a:ext uri="{9D8B030D-6E8A-4147-A177-3AD203B41FA5}">
                      <a16:colId xmlns:a16="http://schemas.microsoft.com/office/drawing/2014/main" val="1603741798"/>
                    </a:ext>
                  </a:extLst>
                </a:gridCol>
                <a:gridCol w="4286250">
                  <a:extLst>
                    <a:ext uri="{9D8B030D-6E8A-4147-A177-3AD203B41FA5}">
                      <a16:colId xmlns:a16="http://schemas.microsoft.com/office/drawing/2014/main" val="4265100515"/>
                    </a:ext>
                  </a:extLst>
                </a:gridCol>
              </a:tblGrid>
              <a:tr h="558800">
                <a:tc>
                  <a:txBody>
                    <a:bodyPr/>
                    <a:lstStyle/>
                    <a:p>
                      <a:r>
                        <a:rPr lang="en-IN" sz="1300" b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Module</a:t>
                      </a:r>
                    </a:p>
                  </a:txBody>
                  <a:tcPr marT="25400" marB="25400">
                    <a:solidFill>
                      <a:srgbClr val="1632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300" b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Measured</a:t>
                      </a:r>
                    </a:p>
                  </a:txBody>
                  <a:tcPr marT="25400" marB="25400">
                    <a:solidFill>
                      <a:srgbClr val="1632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2692979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r>
                        <a:rPr lang="en-IN" sz="1300" b="0">
                          <a:solidFill>
                            <a:srgbClr val="282828"/>
                          </a:solidFill>
                          <a:latin typeface="Calibri" panose="020F0502020204030204" pitchFamily="34" charset="0"/>
                        </a:rPr>
                        <a:t>Drift guard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0">
                          <a:solidFill>
                            <a:srgbClr val="282828"/>
                          </a:solidFill>
                          <a:latin typeface="Calibri" panose="020F0502020204030204" pitchFamily="34" charset="0"/>
                        </a:rPr>
                        <a:t>foreign trace: OOV 1.0, routed to a human</a:t>
                      </a:r>
                      <a:endParaRPr lang="en-IN" sz="1300" b="0">
                        <a:solidFill>
                          <a:srgbClr val="282828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5651492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r>
                        <a:rPr lang="en-IN" sz="1300" b="0">
                          <a:solidFill>
                            <a:srgbClr val="282828"/>
                          </a:solidFill>
                          <a:latin typeface="Calibri" panose="020F0502020204030204" pitchFamily="34" charset="0"/>
                        </a:rPr>
                        <a:t>Canary</a:t>
                      </a:r>
                    </a:p>
                  </a:txBody>
                  <a:tcPr marT="25400" marB="25400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0">
                          <a:solidFill>
                            <a:srgbClr val="282828"/>
                          </a:solidFill>
                          <a:latin typeface="Calibri" panose="020F0502020204030204" pitchFamily="34" charset="0"/>
                        </a:rPr>
                        <a:t>slow DB 16.7–20.9× p95, rolled back</a:t>
                      </a:r>
                      <a:endParaRPr lang="en-IN" sz="1300" b="0">
                        <a:solidFill>
                          <a:srgbClr val="282828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T="25400" marB="25400">
                    <a:solidFill>
                      <a:srgbClr val="F0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9954088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r>
                        <a:rPr lang="en-IN" sz="1300" b="0">
                          <a:solidFill>
                            <a:srgbClr val="282828"/>
                          </a:solidFill>
                          <a:latin typeface="Calibri" panose="020F0502020204030204" pitchFamily="34" charset="0"/>
                        </a:rPr>
                        <a:t>Security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300" b="0">
                          <a:solidFill>
                            <a:srgbClr val="282828"/>
                          </a:solidFill>
                          <a:latin typeface="Calibri" panose="020F0502020204030204" pitchFamily="34" charset="0"/>
                        </a:rPr>
                        <a:t>27 flagged, 0 reachable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527576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r>
                        <a:rPr lang="en-IN" sz="1300" b="0">
                          <a:solidFill>
                            <a:srgbClr val="282828"/>
                          </a:solidFill>
                          <a:latin typeface="Calibri" panose="020F0502020204030204" pitchFamily="34" charset="0"/>
                        </a:rPr>
                        <a:t>Chaos</a:t>
                      </a:r>
                    </a:p>
                  </a:txBody>
                  <a:tcPr marT="25400" marB="25400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300" b="0">
                          <a:solidFill>
                            <a:srgbClr val="282828"/>
                          </a:solidFill>
                          <a:latin typeface="Calibri" panose="020F0502020204030204" pitchFamily="34" charset="0"/>
                        </a:rPr>
                        <a:t>silent bug: 0% correct, 2 unsafe merges, T3→T0</a:t>
                      </a:r>
                    </a:p>
                  </a:txBody>
                  <a:tcPr marT="25400" marB="25400">
                    <a:solidFill>
                      <a:srgbClr val="F0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3612030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r>
                        <a:rPr lang="en-IN" sz="1300" b="0">
                          <a:solidFill>
                            <a:srgbClr val="282828"/>
                          </a:solidFill>
                          <a:latin typeface="Calibri" panose="020F0502020204030204" pitchFamily="34" charset="0"/>
                        </a:rPr>
                        <a:t>Actuator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0">
                          <a:solidFill>
                            <a:srgbClr val="282828"/>
                          </a:solidFill>
                          <a:latin typeface="Calibri" panose="020F0502020204030204" pitchFamily="34" charset="0"/>
                        </a:rPr>
                        <a:t>dry-run default, argv-only, validated names</a:t>
                      </a:r>
                      <a:endParaRPr lang="en-IN" sz="1300" b="0">
                        <a:solidFill>
                          <a:srgbClr val="282828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93950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543339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60BC7E7-84A3-7EBA-0CA1-3EB280A4FA60}"/>
              </a:ext>
            </a:extLst>
          </p:cNvPr>
          <p:cNvSpPr/>
          <p:nvPr/>
        </p:nvSpPr>
        <p:spPr>
          <a:xfrm>
            <a:off x="0" y="0"/>
            <a:ext cx="12192000" cy="812800"/>
          </a:xfrm>
          <a:prstGeom prst="rect">
            <a:avLst/>
          </a:prstGeom>
          <a:solidFill>
            <a:srgbClr val="16325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C3192F9-E8F6-4744-30EC-A9A35E12402C}"/>
              </a:ext>
            </a:extLst>
          </p:cNvPr>
          <p:cNvSpPr txBox="1"/>
          <p:nvPr/>
        </p:nvSpPr>
        <p:spPr>
          <a:xfrm>
            <a:off x="457200" y="65445"/>
            <a:ext cx="11277600" cy="492443"/>
          </a:xfrm>
          <a:prstGeom prst="rect">
            <a:avLst/>
          </a:prstGeom>
          <a:noFill/>
        </p:spPr>
        <p:txBody>
          <a:bodyPr vert="horz" wrap="square" lIns="50800" rIns="50800" rtlCol="0" anchor="ctr">
            <a:spAutoFit/>
          </a:bodyPr>
          <a:lstStyle/>
          <a:p>
            <a:r>
              <a:rPr lang="en-US" sz="2600" b="1">
                <a:solidFill>
                  <a:srgbClr val="FFFFFF"/>
                </a:solidFill>
                <a:latin typeface="Calibri" panose="020F0502020204030204" pitchFamily="34" charset="0"/>
              </a:rPr>
              <a:t>Live closed loop: 390 requests, faults injected on a schedule</a:t>
            </a:r>
            <a:endParaRPr lang="en-IN" sz="2600" b="1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841B2A2-67FA-19DE-CAE3-3381EACD4A9F}"/>
              </a:ext>
            </a:extLst>
          </p:cNvPr>
          <p:cNvSpPr/>
          <p:nvPr/>
        </p:nvSpPr>
        <p:spPr>
          <a:xfrm>
            <a:off x="0" y="812800"/>
            <a:ext cx="12192000" cy="50800"/>
          </a:xfrm>
          <a:prstGeom prst="rect">
            <a:avLst/>
          </a:prstGeom>
          <a:solidFill>
            <a:srgbClr val="00808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4445EEA-F7A4-C93F-2CE6-3EE10E56A80B}"/>
              </a:ext>
            </a:extLst>
          </p:cNvPr>
          <p:cNvSpPr txBox="1"/>
          <p:nvPr/>
        </p:nvSpPr>
        <p:spPr>
          <a:xfrm>
            <a:off x="11430000" y="6477000"/>
            <a:ext cx="508000" cy="261610"/>
          </a:xfrm>
          <a:prstGeom prst="rect">
            <a:avLst/>
          </a:prstGeom>
          <a:noFill/>
        </p:spPr>
        <p:txBody>
          <a:bodyPr vert="horz" wrap="square" lIns="50800" rIns="50800" rtlCol="0" anchor="t">
            <a:spAutoFit/>
          </a:bodyPr>
          <a:lstStyle/>
          <a:p>
            <a:pPr algn="r"/>
            <a:r>
              <a:rPr lang="en-IN" sz="1100">
                <a:solidFill>
                  <a:srgbClr val="787878"/>
                </a:solidFill>
                <a:latin typeface="Calibri" panose="020F0502020204030204" pitchFamily="34" charset="0"/>
              </a:rPr>
              <a:t>13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C0EFD1C-452F-9FC1-DD2A-A67654D3EC8F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1270000"/>
            <a:ext cx="7874000" cy="3683000"/>
          </a:xfrm>
          <a:prstGeom prst="rect">
            <a:avLst/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D7FBC85-2B75-B4C0-8D60-A0426AB0FB1D}"/>
              </a:ext>
            </a:extLst>
          </p:cNvPr>
          <p:cNvSpPr/>
          <p:nvPr/>
        </p:nvSpPr>
        <p:spPr>
          <a:xfrm>
            <a:off x="8509000" y="1168400"/>
            <a:ext cx="1524000" cy="1092200"/>
          </a:xfrm>
          <a:prstGeom prst="roundRect">
            <a:avLst/>
          </a:prstGeom>
          <a:solidFill>
            <a:srgbClr val="F0F4F7"/>
          </a:solidFill>
          <a:ln>
            <a:solidFill>
              <a:srgbClr val="C3CDD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2F5C536-4EB4-A60B-1D12-19EC7500C90C}"/>
              </a:ext>
            </a:extLst>
          </p:cNvPr>
          <p:cNvSpPr txBox="1"/>
          <p:nvPr/>
        </p:nvSpPr>
        <p:spPr>
          <a:xfrm>
            <a:off x="8509000" y="1244600"/>
            <a:ext cx="1524000" cy="553998"/>
          </a:xfrm>
          <a:prstGeom prst="rect">
            <a:avLst/>
          </a:prstGeom>
          <a:noFill/>
        </p:spPr>
        <p:txBody>
          <a:bodyPr vert="horz" wrap="square" lIns="50800" rIns="50800" rtlCol="0" anchor="t">
            <a:spAutoFit/>
          </a:bodyPr>
          <a:lstStyle/>
          <a:p>
            <a:pPr algn="ctr"/>
            <a:r>
              <a:rPr lang="en-IN" sz="3000" b="1">
                <a:solidFill>
                  <a:srgbClr val="16325C"/>
                </a:solidFill>
                <a:latin typeface="Calibri" panose="020F0502020204030204" pitchFamily="34" charset="0"/>
              </a:rPr>
              <a:t>92.8%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73C75A8-DB55-C264-C8E7-CDD4F58ADB66}"/>
              </a:ext>
            </a:extLst>
          </p:cNvPr>
          <p:cNvSpPr txBox="1"/>
          <p:nvPr/>
        </p:nvSpPr>
        <p:spPr>
          <a:xfrm>
            <a:off x="8559800" y="1803400"/>
            <a:ext cx="1422400" cy="276999"/>
          </a:xfrm>
          <a:prstGeom prst="rect">
            <a:avLst/>
          </a:prstGeom>
          <a:noFill/>
        </p:spPr>
        <p:txBody>
          <a:bodyPr vert="horz" wrap="square" lIns="50800" rIns="50800" rtlCol="0" anchor="t">
            <a:spAutoFit/>
          </a:bodyPr>
          <a:lstStyle/>
          <a:p>
            <a:pPr algn="ctr"/>
            <a:r>
              <a:rPr lang="en-IN" sz="1200">
                <a:solidFill>
                  <a:srgbClr val="787878"/>
                </a:solidFill>
                <a:latin typeface="Calibri" panose="020F0502020204030204" pitchFamily="34" charset="0"/>
              </a:rPr>
              <a:t>correct decisions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039926-8F47-A26F-71F1-661161711192}"/>
              </a:ext>
            </a:extLst>
          </p:cNvPr>
          <p:cNvSpPr/>
          <p:nvPr/>
        </p:nvSpPr>
        <p:spPr>
          <a:xfrm>
            <a:off x="10223500" y="1168400"/>
            <a:ext cx="1524000" cy="1092200"/>
          </a:xfrm>
          <a:prstGeom prst="roundRect">
            <a:avLst/>
          </a:prstGeom>
          <a:solidFill>
            <a:srgbClr val="F0F4F7"/>
          </a:solidFill>
          <a:ln>
            <a:solidFill>
              <a:srgbClr val="C3CDD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C5BDAC3-6E1A-4E40-8C9C-3FE16AC9E007}"/>
              </a:ext>
            </a:extLst>
          </p:cNvPr>
          <p:cNvSpPr txBox="1"/>
          <p:nvPr/>
        </p:nvSpPr>
        <p:spPr>
          <a:xfrm>
            <a:off x="10223500" y="1244600"/>
            <a:ext cx="1524000" cy="553998"/>
          </a:xfrm>
          <a:prstGeom prst="rect">
            <a:avLst/>
          </a:prstGeom>
          <a:noFill/>
        </p:spPr>
        <p:txBody>
          <a:bodyPr vert="horz" wrap="square" lIns="50800" rIns="50800" rtlCol="0" anchor="t">
            <a:spAutoFit/>
          </a:bodyPr>
          <a:lstStyle/>
          <a:p>
            <a:pPr algn="ctr"/>
            <a:r>
              <a:rPr lang="en-IN" sz="3000" b="1">
                <a:solidFill>
                  <a:srgbClr val="BE3C3C"/>
                </a:solidFill>
                <a:latin typeface="Calibri" panose="020F0502020204030204" pitchFamily="34" charset="0"/>
              </a:rPr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A524870-909B-E21A-81C4-73A3D9B311E2}"/>
              </a:ext>
            </a:extLst>
          </p:cNvPr>
          <p:cNvSpPr txBox="1"/>
          <p:nvPr/>
        </p:nvSpPr>
        <p:spPr>
          <a:xfrm>
            <a:off x="10274300" y="1803400"/>
            <a:ext cx="1422400" cy="276999"/>
          </a:xfrm>
          <a:prstGeom prst="rect">
            <a:avLst/>
          </a:prstGeom>
          <a:noFill/>
        </p:spPr>
        <p:txBody>
          <a:bodyPr vert="horz" wrap="square" lIns="50800" rIns="50800" rtlCol="0" anchor="t">
            <a:spAutoFit/>
          </a:bodyPr>
          <a:lstStyle/>
          <a:p>
            <a:pPr algn="ctr"/>
            <a:r>
              <a:rPr lang="en-IN" sz="1200">
                <a:solidFill>
                  <a:srgbClr val="787878"/>
                </a:solidFill>
                <a:latin typeface="Calibri" panose="020F0502020204030204" pitchFamily="34" charset="0"/>
              </a:rPr>
              <a:t>unsafe actions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3C61321-7AD6-BDAB-1F86-3A3AAA959F99}"/>
              </a:ext>
            </a:extLst>
          </p:cNvPr>
          <p:cNvSpPr txBox="1"/>
          <p:nvPr/>
        </p:nvSpPr>
        <p:spPr>
          <a:xfrm>
            <a:off x="508000" y="5270500"/>
            <a:ext cx="11303000" cy="113107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228600" indent="-228600">
              <a:spcAft>
                <a:spcPts val="300"/>
              </a:spcAft>
              <a:buClr>
                <a:srgbClr val="008080"/>
              </a:buClr>
              <a:buFont typeface="+mj-lt"/>
              <a:buChar char="•"/>
            </a:pPr>
            <a:r>
              <a:rPr lang="en-US" sz="1500">
                <a:solidFill>
                  <a:srgbClr val="282828"/>
                </a:solidFill>
                <a:latin typeface="Calibri" panose="020F0502020204030204" pitchFamily="34" charset="0"/>
              </a:rPr>
              <a:t>Promoted at requests 15, 45, 97 → T3</a:t>
            </a:r>
          </a:p>
          <a:p>
            <a:pPr marL="228600" indent="-228600">
              <a:spcAft>
                <a:spcPts val="300"/>
              </a:spcAft>
              <a:buClr>
                <a:srgbClr val="008080"/>
              </a:buClr>
              <a:buFont typeface="+mj-lt"/>
              <a:buChar char="•"/>
            </a:pPr>
            <a:r>
              <a:rPr lang="en-US" sz="1500">
                <a:solidFill>
                  <a:srgbClr val="282828"/>
                </a:solidFill>
                <a:latin typeface="Calibri" panose="020F0502020204030204" pitchFamily="34" charset="0"/>
              </a:rPr>
              <a:t>Silent bug (looks healthy): 3 of 30 right; demoted at 342, 344 and by the retention check at 374</a:t>
            </a:r>
          </a:p>
          <a:p>
            <a:pPr marL="228600" indent="-228600">
              <a:spcAft>
                <a:spcPts val="300"/>
              </a:spcAft>
              <a:buClr>
                <a:srgbClr val="008080"/>
              </a:buClr>
              <a:buFont typeface="+mj-lt"/>
              <a:buChar char="•"/>
            </a:pPr>
            <a:r>
              <a:rPr lang="en-US" sz="1500">
                <a:solidFill>
                  <a:srgbClr val="282828"/>
                </a:solidFill>
                <a:latin typeface="Calibri" panose="020F0502020204030204" pitchFamily="34" charset="0"/>
              </a:rPr>
              <a:t>Regained T1 at 389 after 15 correct decisions</a:t>
            </a:r>
          </a:p>
          <a:p>
            <a:pPr marL="228600" indent="-228600">
              <a:spcAft>
                <a:spcPts val="300"/>
              </a:spcAft>
              <a:buClr>
                <a:srgbClr val="008080"/>
              </a:buClr>
              <a:buFont typeface="+mj-lt"/>
              <a:buChar char="•"/>
            </a:pPr>
            <a:r>
              <a:rPr lang="en-US" sz="1500">
                <a:solidFill>
                  <a:srgbClr val="282828"/>
                </a:solidFill>
                <a:latin typeface="Calibri" panose="020F0502020204030204" pitchFamily="34" charset="0"/>
              </a:rPr>
              <a:t>A toy system: the scalar baseline also scores 1.000 here</a:t>
            </a:r>
            <a:endParaRPr lang="en-IN" sz="1500">
              <a:solidFill>
                <a:srgbClr val="282828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04979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A13B2FF-EA2B-157A-C79B-F32F73B27AC4}"/>
              </a:ext>
            </a:extLst>
          </p:cNvPr>
          <p:cNvSpPr/>
          <p:nvPr/>
        </p:nvSpPr>
        <p:spPr>
          <a:xfrm>
            <a:off x="0" y="0"/>
            <a:ext cx="12192000" cy="812800"/>
          </a:xfrm>
          <a:prstGeom prst="rect">
            <a:avLst/>
          </a:prstGeom>
          <a:solidFill>
            <a:srgbClr val="16325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AF1077B-8E57-D9C8-E509-23723C41B1B7}"/>
              </a:ext>
            </a:extLst>
          </p:cNvPr>
          <p:cNvSpPr txBox="1"/>
          <p:nvPr/>
        </p:nvSpPr>
        <p:spPr>
          <a:xfrm>
            <a:off x="457200" y="65445"/>
            <a:ext cx="11277600" cy="492443"/>
          </a:xfrm>
          <a:prstGeom prst="rect">
            <a:avLst/>
          </a:prstGeom>
          <a:noFill/>
        </p:spPr>
        <p:txBody>
          <a:bodyPr vert="horz" wrap="square" lIns="50800" rIns="50800" rtlCol="0" anchor="ctr">
            <a:spAutoFit/>
          </a:bodyPr>
          <a:lstStyle/>
          <a:p>
            <a:r>
              <a:rPr lang="en-IN" sz="2600" b="1">
                <a:solidFill>
                  <a:srgbClr val="FFFFFF"/>
                </a:solidFill>
                <a:latin typeface="Calibri" panose="020F0502020204030204" pitchFamily="34" charset="0"/>
              </a:rPr>
              <a:t>Live demo: the dashboard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B88A26C-EBA5-7D5D-9EBC-3A93E587BC09}"/>
              </a:ext>
            </a:extLst>
          </p:cNvPr>
          <p:cNvSpPr/>
          <p:nvPr/>
        </p:nvSpPr>
        <p:spPr>
          <a:xfrm>
            <a:off x="0" y="812800"/>
            <a:ext cx="12192000" cy="50800"/>
          </a:xfrm>
          <a:prstGeom prst="rect">
            <a:avLst/>
          </a:prstGeom>
          <a:solidFill>
            <a:srgbClr val="00808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925863E-81CE-74FE-A8BC-5821127469F2}"/>
              </a:ext>
            </a:extLst>
          </p:cNvPr>
          <p:cNvSpPr txBox="1"/>
          <p:nvPr/>
        </p:nvSpPr>
        <p:spPr>
          <a:xfrm>
            <a:off x="11430000" y="6477000"/>
            <a:ext cx="508000" cy="261610"/>
          </a:xfrm>
          <a:prstGeom prst="rect">
            <a:avLst/>
          </a:prstGeom>
          <a:noFill/>
        </p:spPr>
        <p:txBody>
          <a:bodyPr vert="horz" wrap="square" lIns="50800" rIns="50800" rtlCol="0" anchor="t">
            <a:spAutoFit/>
          </a:bodyPr>
          <a:lstStyle/>
          <a:p>
            <a:pPr algn="r"/>
            <a:r>
              <a:rPr lang="en-IN" sz="1100">
                <a:solidFill>
                  <a:srgbClr val="787878"/>
                </a:solidFill>
                <a:latin typeface="Calibri" panose="020F0502020204030204" pitchFamily="34" charset="0"/>
              </a:rPr>
              <a:t>14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F564525-167F-A465-F690-5176D512FE44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1248297"/>
            <a:ext cx="5969000" cy="385340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D180131-98A7-FEC7-E69A-C6C0159F7B3A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9920" y="1016000"/>
            <a:ext cx="5328161" cy="31750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BAA3E83-F251-9E9E-CB8F-D044007F2C85}"/>
              </a:ext>
            </a:extLst>
          </p:cNvPr>
          <p:cNvSpPr txBox="1"/>
          <p:nvPr/>
        </p:nvSpPr>
        <p:spPr>
          <a:xfrm>
            <a:off x="6477000" y="4318000"/>
            <a:ext cx="5461000" cy="93871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228600" indent="-228600">
              <a:spcAft>
                <a:spcPts val="600"/>
              </a:spcAft>
              <a:buClr>
                <a:srgbClr val="008080"/>
              </a:buClr>
              <a:buFont typeface="+mj-lt"/>
              <a:buChar char="•"/>
            </a:pPr>
            <a:r>
              <a:rPr lang="en-US" sz="1500">
                <a:solidFill>
                  <a:srgbClr val="282828"/>
                </a:solidFill>
                <a:latin typeface="Calibri" panose="020F0502020204030204" pitchFamily="34" charset="0"/>
              </a:rPr>
              <a:t>Inject faults, run the scripted demo, switch on the chaos monkey</a:t>
            </a:r>
          </a:p>
          <a:p>
            <a:pPr marL="228600" indent="-228600">
              <a:spcAft>
                <a:spcPts val="600"/>
              </a:spcAft>
              <a:buClr>
                <a:srgbClr val="008080"/>
              </a:buClr>
              <a:buFont typeface="+mj-lt"/>
              <a:buChar char="•"/>
            </a:pPr>
            <a:r>
              <a:rPr lang="en-US" sz="1500">
                <a:solidFill>
                  <a:srgbClr val="282828"/>
                </a:solidFill>
                <a:latin typeface="Calibri" panose="020F0502020204030204" pitchFamily="34" charset="0"/>
              </a:rPr>
              <a:t>Canary: deploy a new version and watch the gate roll it back</a:t>
            </a:r>
          </a:p>
          <a:p>
            <a:pPr marL="228600" indent="-228600">
              <a:spcAft>
                <a:spcPts val="600"/>
              </a:spcAft>
              <a:buClr>
                <a:srgbClr val="008080"/>
              </a:buClr>
              <a:buFont typeface="+mj-lt"/>
              <a:buChar char="•"/>
            </a:pPr>
            <a:r>
              <a:rPr lang="en-US" sz="1500">
                <a:solidFill>
                  <a:srgbClr val="282828"/>
                </a:solidFill>
                <a:latin typeface="Calibri" panose="020F0502020204030204" pitchFamily="34" charset="0"/>
              </a:rPr>
              <a:t>Security, root-cause, real-data and metrics tabs</a:t>
            </a:r>
            <a:endParaRPr lang="en-IN" sz="1500">
              <a:solidFill>
                <a:srgbClr val="282828"/>
              </a:solidFill>
              <a:latin typeface="Calibri" panose="020F050202020403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92015CF-AE7C-994A-1B2C-69C54297EAC8}"/>
              </a:ext>
            </a:extLst>
          </p:cNvPr>
          <p:cNvSpPr txBox="1"/>
          <p:nvPr/>
        </p:nvSpPr>
        <p:spPr>
          <a:xfrm>
            <a:off x="508000" y="5588000"/>
            <a:ext cx="5842000" cy="323165"/>
          </a:xfrm>
          <a:prstGeom prst="rect">
            <a:avLst/>
          </a:prstGeom>
          <a:noFill/>
        </p:spPr>
        <p:txBody>
          <a:bodyPr vert="horz" wrap="square" lIns="50800" rIns="50800" rtlCol="0" anchor="t">
            <a:spAutoFit/>
          </a:bodyPr>
          <a:lstStyle/>
          <a:p>
            <a:r>
              <a:rPr lang="en-IN" sz="1500" b="1">
                <a:solidFill>
                  <a:srgbClr val="008080"/>
                </a:solidFill>
                <a:latin typeface="Consolas" panose="020B0609020204030204" pitchFamily="49" charset="0"/>
              </a:rPr>
              <a:t>python scripts/serve_ui.py  →  http://127.0.0.1:8765</a:t>
            </a:r>
          </a:p>
        </p:txBody>
      </p:sp>
    </p:spTree>
    <p:extLst>
      <p:ext uri="{BB962C8B-B14F-4D97-AF65-F5344CB8AC3E}">
        <p14:creationId xmlns:p14="http://schemas.microsoft.com/office/powerpoint/2010/main" val="4738009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07A9FA0-7386-62BE-2F3A-1BE4D68F9A3D}"/>
              </a:ext>
            </a:extLst>
          </p:cNvPr>
          <p:cNvSpPr/>
          <p:nvPr/>
        </p:nvSpPr>
        <p:spPr>
          <a:xfrm>
            <a:off x="0" y="0"/>
            <a:ext cx="12192000" cy="812800"/>
          </a:xfrm>
          <a:prstGeom prst="rect">
            <a:avLst/>
          </a:prstGeom>
          <a:solidFill>
            <a:srgbClr val="16325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444ACD1-12D5-AA76-4391-1CE425A99074}"/>
              </a:ext>
            </a:extLst>
          </p:cNvPr>
          <p:cNvSpPr txBox="1"/>
          <p:nvPr/>
        </p:nvSpPr>
        <p:spPr>
          <a:xfrm>
            <a:off x="457200" y="65445"/>
            <a:ext cx="11277600" cy="492443"/>
          </a:xfrm>
          <a:prstGeom prst="rect">
            <a:avLst/>
          </a:prstGeom>
          <a:noFill/>
        </p:spPr>
        <p:txBody>
          <a:bodyPr vert="horz" wrap="square" lIns="50800" rIns="50800" rtlCol="0" anchor="ctr">
            <a:spAutoFit/>
          </a:bodyPr>
          <a:lstStyle/>
          <a:p>
            <a:r>
              <a:rPr lang="en-US" sz="2600" b="1">
                <a:solidFill>
                  <a:srgbClr val="FFFFFF"/>
                </a:solidFill>
                <a:latin typeface="Calibri" panose="020F0502020204030204" pitchFamily="34" charset="0"/>
              </a:rPr>
              <a:t>Knowing what it does not know</a:t>
            </a:r>
            <a:endParaRPr lang="en-IN" sz="2600" b="1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CA60241-6945-F4DB-F6A4-C0475239C62B}"/>
              </a:ext>
            </a:extLst>
          </p:cNvPr>
          <p:cNvSpPr/>
          <p:nvPr/>
        </p:nvSpPr>
        <p:spPr>
          <a:xfrm>
            <a:off x="0" y="812800"/>
            <a:ext cx="12192000" cy="50800"/>
          </a:xfrm>
          <a:prstGeom prst="rect">
            <a:avLst/>
          </a:prstGeom>
          <a:solidFill>
            <a:srgbClr val="00808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D0F6DA9-7F26-6991-C0B3-9C4CD90436E0}"/>
              </a:ext>
            </a:extLst>
          </p:cNvPr>
          <p:cNvSpPr txBox="1"/>
          <p:nvPr/>
        </p:nvSpPr>
        <p:spPr>
          <a:xfrm>
            <a:off x="11430000" y="6477000"/>
            <a:ext cx="508000" cy="261610"/>
          </a:xfrm>
          <a:prstGeom prst="rect">
            <a:avLst/>
          </a:prstGeom>
          <a:noFill/>
        </p:spPr>
        <p:txBody>
          <a:bodyPr vert="horz" wrap="square" lIns="50800" rIns="50800" rtlCol="0" anchor="t">
            <a:spAutoFit/>
          </a:bodyPr>
          <a:lstStyle/>
          <a:p>
            <a:pPr algn="r"/>
            <a:r>
              <a:rPr lang="en-IN" sz="1100">
                <a:solidFill>
                  <a:srgbClr val="787878"/>
                </a:solidFill>
                <a:latin typeface="Calibri" panose="020F0502020204030204" pitchFamily="34" charset="0"/>
              </a:rPr>
              <a:t>15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5E5FF49-A4E7-B39B-5F0B-012E81ED4B7C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1312308"/>
            <a:ext cx="6604000" cy="204898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99F614B-43AF-B5C8-C56F-469B26A10946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2000" y="1090286"/>
            <a:ext cx="4826000" cy="363602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D70678B-22D9-DBF3-C738-B31702A8EA2E}"/>
              </a:ext>
            </a:extLst>
          </p:cNvPr>
          <p:cNvSpPr txBox="1"/>
          <p:nvPr/>
        </p:nvSpPr>
        <p:spPr>
          <a:xfrm>
            <a:off x="508000" y="3810000"/>
            <a:ext cx="6350000" cy="128240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228600" indent="-228600">
              <a:spcAft>
                <a:spcPts val="800"/>
              </a:spcAft>
              <a:buClr>
                <a:srgbClr val="008080"/>
              </a:buClr>
              <a:buFont typeface="+mj-lt"/>
              <a:buChar char="•"/>
            </a:pPr>
            <a:r>
              <a:rPr lang="en-US" sz="1600">
                <a:solidFill>
                  <a:srgbClr val="282828"/>
                </a:solidFill>
                <a:latin typeface="Calibri" panose="020F0502020204030204" pitchFamily="34" charset="0"/>
              </a:rPr>
              <a:t>Corpus records 0.74 → attested export 0.63 → stock export 0.20</a:t>
            </a:r>
          </a:p>
          <a:p>
            <a:pPr marL="228600" indent="-228600">
              <a:spcAft>
                <a:spcPts val="800"/>
              </a:spcAft>
              <a:buClr>
                <a:srgbClr val="008080"/>
              </a:buClr>
              <a:buFont typeface="+mj-lt"/>
              <a:buChar char="•"/>
            </a:pPr>
            <a:r>
              <a:rPr lang="en-US" sz="1600">
                <a:solidFill>
                  <a:srgbClr val="282828"/>
                </a:solidFill>
                <a:latin typeface="Calibri" panose="020F0502020204030204" pitchFamily="34" charset="0"/>
              </a:rPr>
              <a:t>Unknown vocabulary (OOV &gt; 0.5) or unattested schema: ask a human</a:t>
            </a:r>
          </a:p>
          <a:p>
            <a:pPr marL="228600" indent="-228600">
              <a:spcAft>
                <a:spcPts val="800"/>
              </a:spcAft>
              <a:buClr>
                <a:srgbClr val="008080"/>
              </a:buClr>
              <a:buFont typeface="+mj-lt"/>
              <a:buChar char="•"/>
            </a:pPr>
            <a:r>
              <a:rPr lang="en-US" sz="1600">
                <a:solidFill>
                  <a:srgbClr val="282828"/>
                </a:solidFill>
                <a:latin typeface="Calibri" panose="020F0502020204030204" pitchFamily="34" charset="0"/>
              </a:rPr>
              <a:t>The real Jaeger 1.76.0 round trip works: traces pushed over OTLP, read back, judged in-distribution</a:t>
            </a:r>
            <a:endParaRPr lang="en-IN" sz="1600">
              <a:solidFill>
                <a:srgbClr val="282828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38988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AD40B17-8784-29E2-CA82-80D296CC0C14}"/>
              </a:ext>
            </a:extLst>
          </p:cNvPr>
          <p:cNvSpPr/>
          <p:nvPr/>
        </p:nvSpPr>
        <p:spPr>
          <a:xfrm>
            <a:off x="0" y="0"/>
            <a:ext cx="12192000" cy="812800"/>
          </a:xfrm>
          <a:prstGeom prst="rect">
            <a:avLst/>
          </a:prstGeom>
          <a:solidFill>
            <a:srgbClr val="16325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DD21AF2-6F53-F739-CADD-8451B64D4F80}"/>
              </a:ext>
            </a:extLst>
          </p:cNvPr>
          <p:cNvSpPr txBox="1"/>
          <p:nvPr/>
        </p:nvSpPr>
        <p:spPr>
          <a:xfrm>
            <a:off x="457200" y="65445"/>
            <a:ext cx="11277600" cy="492443"/>
          </a:xfrm>
          <a:prstGeom prst="rect">
            <a:avLst/>
          </a:prstGeom>
          <a:noFill/>
        </p:spPr>
        <p:txBody>
          <a:bodyPr vert="horz" wrap="square" lIns="50800" rIns="50800" rtlCol="0" anchor="ctr">
            <a:spAutoFit/>
          </a:bodyPr>
          <a:lstStyle/>
          <a:p>
            <a:r>
              <a:rPr lang="en-IN" sz="2600" b="1">
                <a:solidFill>
                  <a:srgbClr val="FFFFFF"/>
                </a:solidFill>
                <a:latin typeface="Calibri" panose="020F0502020204030204" pitchFamily="34" charset="0"/>
              </a:rPr>
              <a:t>Problems that measurement exposed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06C6F01-8ACE-2D93-6AD5-97FCFE1947CF}"/>
              </a:ext>
            </a:extLst>
          </p:cNvPr>
          <p:cNvSpPr/>
          <p:nvPr/>
        </p:nvSpPr>
        <p:spPr>
          <a:xfrm>
            <a:off x="0" y="812800"/>
            <a:ext cx="12192000" cy="50800"/>
          </a:xfrm>
          <a:prstGeom prst="rect">
            <a:avLst/>
          </a:prstGeom>
          <a:solidFill>
            <a:srgbClr val="00808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7433A1F-81D2-727E-82BB-3F7BBBE3A151}"/>
              </a:ext>
            </a:extLst>
          </p:cNvPr>
          <p:cNvSpPr txBox="1"/>
          <p:nvPr/>
        </p:nvSpPr>
        <p:spPr>
          <a:xfrm>
            <a:off x="11430000" y="6477000"/>
            <a:ext cx="508000" cy="261610"/>
          </a:xfrm>
          <a:prstGeom prst="rect">
            <a:avLst/>
          </a:prstGeom>
          <a:noFill/>
        </p:spPr>
        <p:txBody>
          <a:bodyPr vert="horz" wrap="square" lIns="50800" rIns="50800" rtlCol="0" anchor="t">
            <a:spAutoFit/>
          </a:bodyPr>
          <a:lstStyle/>
          <a:p>
            <a:pPr algn="r"/>
            <a:r>
              <a:rPr lang="en-IN" sz="1100">
                <a:solidFill>
                  <a:srgbClr val="787878"/>
                </a:solidFill>
                <a:latin typeface="Calibri" panose="020F0502020204030204" pitchFamily="34" charset="0"/>
              </a:rPr>
              <a:t>16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043CC35-8791-4BE2-C854-5D125F1381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4065684"/>
              </p:ext>
            </p:extLst>
          </p:nvPr>
        </p:nvGraphicFramePr>
        <p:xfrm>
          <a:off x="508000" y="1270000"/>
          <a:ext cx="11176000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21905">
                  <a:extLst>
                    <a:ext uri="{9D8B030D-6E8A-4147-A177-3AD203B41FA5}">
                      <a16:colId xmlns:a16="http://schemas.microsoft.com/office/drawing/2014/main" val="865887058"/>
                    </a:ext>
                  </a:extLst>
                </a:gridCol>
                <a:gridCol w="5854096">
                  <a:extLst>
                    <a:ext uri="{9D8B030D-6E8A-4147-A177-3AD203B41FA5}">
                      <a16:colId xmlns:a16="http://schemas.microsoft.com/office/drawing/2014/main" val="152406247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r>
                        <a:rPr lang="en-IN" sz="1600" b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Finding</a:t>
                      </a:r>
                    </a:p>
                  </a:txBody>
                  <a:tcPr marT="25400" marB="25400">
                    <a:solidFill>
                      <a:srgbClr val="1632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b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Fix</a:t>
                      </a:r>
                    </a:p>
                  </a:txBody>
                  <a:tcPr marT="25400" marB="25400">
                    <a:solidFill>
                      <a:srgbClr val="1632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9596524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lang="en-US" sz="1600" b="0">
                          <a:solidFill>
                            <a:srgbClr val="282828"/>
                          </a:solidFill>
                          <a:latin typeface="Calibri" panose="020F0502020204030204" pitchFamily="34" charset="0"/>
                        </a:rPr>
                        <a:t>88.18% was a one-column rule</a:t>
                      </a:r>
                      <a:endParaRPr lang="en-IN" sz="1600" b="0">
                        <a:solidFill>
                          <a:srgbClr val="282828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>
                          <a:solidFill>
                            <a:srgbClr val="282828"/>
                          </a:solidFill>
                          <a:latin typeface="Calibri" panose="020F0502020204030204" pitchFamily="34" charset="0"/>
                        </a:rPr>
                        <a:t>Rebuilt from sequences; per-class metrics and baselines</a:t>
                      </a:r>
                      <a:endParaRPr lang="en-IN" sz="1600" b="0">
                        <a:solidFill>
                          <a:srgbClr val="282828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6487834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lang="en-US" sz="1600" b="0">
                          <a:solidFill>
                            <a:srgbClr val="282828"/>
                          </a:solidFill>
                          <a:latin typeface="Calibri" panose="020F0502020204030204" pitchFamily="34" charset="0"/>
                        </a:rPr>
                        <a:t>Live test accuracy 1.0 with classes missing</a:t>
                      </a:r>
                      <a:endParaRPr lang="en-IN" sz="1600" b="0">
                        <a:solidFill>
                          <a:srgbClr val="282828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T="25400" marB="25400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>
                          <a:solidFill>
                            <a:srgbClr val="282828"/>
                          </a:solidFill>
                          <a:latin typeface="Calibri" panose="020F0502020204030204" pitchFamily="34" charset="0"/>
                        </a:rPr>
                        <a:t>Scenario assigned once by dominant fault class</a:t>
                      </a:r>
                      <a:endParaRPr lang="en-IN" sz="1600" b="0">
                        <a:solidFill>
                          <a:srgbClr val="282828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T="25400" marB="25400">
                    <a:solidFill>
                      <a:srgbClr val="F0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6603894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lang="en-US" sz="1600" b="0">
                          <a:solidFill>
                            <a:srgbClr val="282828"/>
                          </a:solidFill>
                          <a:latin typeface="Calibri" panose="020F0502020204030204" pitchFamily="34" charset="0"/>
                        </a:rPr>
                        <a:t>53 tier flips in 50 decisions</a:t>
                      </a:r>
                      <a:endParaRPr lang="en-IN" sz="1600" b="0">
                        <a:solidFill>
                          <a:srgbClr val="282828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>
                          <a:solidFill>
                            <a:srgbClr val="282828"/>
                          </a:solidFill>
                          <a:latin typeface="Calibri" panose="020F0502020204030204" pitchFamily="34" charset="0"/>
                        </a:rPr>
                        <a:t>Only evidence since the last tier change counts</a:t>
                      </a:r>
                      <a:endParaRPr lang="en-IN" sz="1600" b="0">
                        <a:solidFill>
                          <a:srgbClr val="282828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6699545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lang="en-US" sz="1600" b="0">
                          <a:solidFill>
                            <a:srgbClr val="282828"/>
                          </a:solidFill>
                          <a:latin typeface="Calibri" panose="020F0502020204030204" pitchFamily="34" charset="0"/>
                        </a:rPr>
                        <a:t>Stock exports judged at 20% accuracy</a:t>
                      </a:r>
                      <a:endParaRPr lang="en-IN" sz="1600" b="0">
                        <a:solidFill>
                          <a:srgbClr val="282828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T="25400" marB="25400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>
                          <a:solidFill>
                            <a:srgbClr val="282828"/>
                          </a:solidFill>
                          <a:latin typeface="Calibri" panose="020F0502020204030204" pitchFamily="34" charset="0"/>
                        </a:rPr>
                        <a:t>Feature-schema condition in the drift guard</a:t>
                      </a:r>
                      <a:endParaRPr lang="en-IN" sz="1600" b="0">
                        <a:solidFill>
                          <a:srgbClr val="282828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T="25400" marB="25400">
                    <a:solidFill>
                      <a:srgbClr val="F0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1378103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lang="en-US" sz="1600" b="0">
                          <a:solidFill>
                            <a:srgbClr val="282828"/>
                          </a:solidFill>
                          <a:latin typeface="Calibri" panose="020F0502020204030204" pitchFamily="34" charset="0"/>
                        </a:rPr>
                        <a:t>Attention made uniform by regularisation</a:t>
                      </a:r>
                      <a:endParaRPr lang="en-IN" sz="1600" b="0">
                        <a:solidFill>
                          <a:srgbClr val="282828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>
                          <a:solidFill>
                            <a:srgbClr val="282828"/>
                          </a:solidFill>
                          <a:latin typeface="Calibri" panose="020F0502020204030204" pitchFamily="34" charset="0"/>
                        </a:rPr>
                        <a:t>Rejected; spans reported as a hint</a:t>
                      </a:r>
                      <a:endParaRPr lang="en-IN" sz="1600" b="0">
                        <a:solidFill>
                          <a:srgbClr val="282828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5856686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lang="en-US" sz="1600" b="0">
                          <a:solidFill>
                            <a:srgbClr val="282828"/>
                          </a:solidFill>
                          <a:latin typeface="Calibri" panose="020F0502020204030204" pitchFamily="34" charset="0"/>
                        </a:rPr>
                        <a:t>localhost cost 2.1 s per call on Windows</a:t>
                      </a:r>
                      <a:endParaRPr lang="en-IN" sz="1600" b="0">
                        <a:solidFill>
                          <a:srgbClr val="282828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T="25400" marB="25400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>
                          <a:solidFill>
                            <a:srgbClr val="282828"/>
                          </a:solidFill>
                          <a:latin typeface="Calibri" panose="020F0502020204030204" pitchFamily="34" charset="0"/>
                        </a:rPr>
                        <a:t>Scripts use 127.0.0.1 (26 ms)</a:t>
                      </a:r>
                      <a:endParaRPr lang="en-IN" sz="1600" b="0">
                        <a:solidFill>
                          <a:srgbClr val="282828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T="25400" marB="25400">
                    <a:solidFill>
                      <a:srgbClr val="F0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56688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690104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08E6154-3A8F-B232-9402-8B3EE0A50F0C}"/>
              </a:ext>
            </a:extLst>
          </p:cNvPr>
          <p:cNvSpPr/>
          <p:nvPr/>
        </p:nvSpPr>
        <p:spPr>
          <a:xfrm>
            <a:off x="0" y="0"/>
            <a:ext cx="12192000" cy="812800"/>
          </a:xfrm>
          <a:prstGeom prst="rect">
            <a:avLst/>
          </a:prstGeom>
          <a:solidFill>
            <a:srgbClr val="16325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22A49CA-41EF-0F33-A174-9CBD4C1F720F}"/>
              </a:ext>
            </a:extLst>
          </p:cNvPr>
          <p:cNvSpPr txBox="1"/>
          <p:nvPr/>
        </p:nvSpPr>
        <p:spPr>
          <a:xfrm>
            <a:off x="457200" y="65445"/>
            <a:ext cx="11277600" cy="492443"/>
          </a:xfrm>
          <a:prstGeom prst="rect">
            <a:avLst/>
          </a:prstGeom>
          <a:noFill/>
        </p:spPr>
        <p:txBody>
          <a:bodyPr vert="horz" wrap="square" lIns="50800" rIns="50800" rtlCol="0" anchor="ctr">
            <a:spAutoFit/>
          </a:bodyPr>
          <a:lstStyle/>
          <a:p>
            <a:r>
              <a:rPr lang="en-IN" sz="2600" b="1">
                <a:solidFill>
                  <a:srgbClr val="FFFFFF"/>
                </a:solidFill>
                <a:latin typeface="Calibri" panose="020F0502020204030204" pitchFamily="34" charset="0"/>
              </a:rPr>
              <a:t>Limitations and future work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585EBBF-F842-8D4A-2C73-B4007B74AF92}"/>
              </a:ext>
            </a:extLst>
          </p:cNvPr>
          <p:cNvSpPr/>
          <p:nvPr/>
        </p:nvSpPr>
        <p:spPr>
          <a:xfrm>
            <a:off x="0" y="812800"/>
            <a:ext cx="12192000" cy="50800"/>
          </a:xfrm>
          <a:prstGeom prst="rect">
            <a:avLst/>
          </a:prstGeom>
          <a:solidFill>
            <a:srgbClr val="00808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45E32D-098A-055B-4527-C1E4D341F1A5}"/>
              </a:ext>
            </a:extLst>
          </p:cNvPr>
          <p:cNvSpPr txBox="1"/>
          <p:nvPr/>
        </p:nvSpPr>
        <p:spPr>
          <a:xfrm>
            <a:off x="11430000" y="6477000"/>
            <a:ext cx="508000" cy="261610"/>
          </a:xfrm>
          <a:prstGeom prst="rect">
            <a:avLst/>
          </a:prstGeom>
          <a:noFill/>
        </p:spPr>
        <p:txBody>
          <a:bodyPr vert="horz" wrap="square" lIns="50800" rIns="50800" rtlCol="0" anchor="t">
            <a:spAutoFit/>
          </a:bodyPr>
          <a:lstStyle/>
          <a:p>
            <a:pPr algn="r"/>
            <a:r>
              <a:rPr lang="en-IN" sz="1100">
                <a:solidFill>
                  <a:srgbClr val="787878"/>
                </a:solidFill>
                <a:latin typeface="Calibri" panose="020F0502020204030204" pitchFamily="34" charset="0"/>
              </a:rPr>
              <a:t>17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DB371A3-5C72-C6A6-097A-54846311AB52}"/>
              </a:ext>
            </a:extLst>
          </p:cNvPr>
          <p:cNvSpPr txBox="1"/>
          <p:nvPr/>
        </p:nvSpPr>
        <p:spPr>
          <a:xfrm>
            <a:off x="635000" y="1143000"/>
            <a:ext cx="5334000" cy="430887"/>
          </a:xfrm>
          <a:prstGeom prst="rect">
            <a:avLst/>
          </a:prstGeom>
          <a:noFill/>
        </p:spPr>
        <p:txBody>
          <a:bodyPr vert="horz" wrap="square" lIns="50800" rIns="50800" rtlCol="0" anchor="t">
            <a:spAutoFit/>
          </a:bodyPr>
          <a:lstStyle/>
          <a:p>
            <a:r>
              <a:rPr lang="en-IN" sz="2200" b="1">
                <a:solidFill>
                  <a:srgbClr val="BE3C3C"/>
                </a:solidFill>
                <a:latin typeface="Calibri" panose="020F0502020204030204" pitchFamily="34" charset="0"/>
              </a:rPr>
              <a:t>Limitations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EC37EF7-0526-021E-D4BF-272CCC94BED7}"/>
              </a:ext>
            </a:extLst>
          </p:cNvPr>
          <p:cNvSpPr txBox="1"/>
          <p:nvPr/>
        </p:nvSpPr>
        <p:spPr>
          <a:xfrm>
            <a:off x="635000" y="1574800"/>
            <a:ext cx="5461000" cy="257506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228600" indent="-228600">
              <a:spcAft>
                <a:spcPts val="800"/>
              </a:spcAft>
              <a:buClr>
                <a:srgbClr val="008080"/>
              </a:buClr>
              <a:buFont typeface="+mj-lt"/>
              <a:buChar char="•"/>
            </a:pPr>
            <a:r>
              <a:rPr lang="en-US" sz="1600">
                <a:solidFill>
                  <a:srgbClr val="282828"/>
                </a:solidFill>
                <a:latin typeface="Calibri" panose="020F0502020204030204" pitchFamily="34" charset="0"/>
              </a:rPr>
              <a:t>Valid only for HDFS traces in the training schema</a:t>
            </a:r>
          </a:p>
          <a:p>
            <a:pPr marL="228600" indent="-228600">
              <a:spcAft>
                <a:spcPts val="800"/>
              </a:spcAft>
              <a:buClr>
                <a:srgbClr val="008080"/>
              </a:buClr>
              <a:buFont typeface="+mj-lt"/>
              <a:buChar char="•"/>
            </a:pPr>
            <a:r>
              <a:rPr lang="en-US" sz="1600">
                <a:solidFill>
                  <a:srgbClr val="282828"/>
                </a:solidFill>
                <a:latin typeface="Calibri" panose="020F0502020204030204" pitchFamily="34" charset="0"/>
              </a:rPr>
              <a:t>Credible accuracy is 0.6829, not 1.000</a:t>
            </a:r>
          </a:p>
          <a:p>
            <a:pPr marL="228600" indent="-228600">
              <a:spcAft>
                <a:spcPts val="800"/>
              </a:spcAft>
              <a:buClr>
                <a:srgbClr val="008080"/>
              </a:buClr>
              <a:buFont typeface="+mj-lt"/>
              <a:buChar char="•"/>
            </a:pPr>
            <a:r>
              <a:rPr lang="en-US" sz="1600">
                <a:solidFill>
                  <a:srgbClr val="282828"/>
                </a:solidFill>
                <a:latin typeface="Calibri" panose="020F0502020204030204" pitchFamily="34" charset="0"/>
              </a:rPr>
              <a:t>No measured gain from attention over a plain LSTM on the same inputs</a:t>
            </a:r>
          </a:p>
          <a:p>
            <a:pPr marL="228600" indent="-228600">
              <a:spcAft>
                <a:spcPts val="800"/>
              </a:spcAft>
              <a:buClr>
                <a:srgbClr val="008080"/>
              </a:buClr>
              <a:buFont typeface="+mj-lt"/>
              <a:buChar char="•"/>
            </a:pPr>
            <a:r>
              <a:rPr lang="en-US" sz="1600">
                <a:solidFill>
                  <a:srgbClr val="282828"/>
                </a:solidFill>
                <a:latin typeface="Calibri" panose="020F0502020204030204" pitchFamily="34" charset="0"/>
              </a:rPr>
              <a:t>Root-cause numbers use a proxy label</a:t>
            </a:r>
          </a:p>
          <a:p>
            <a:pPr marL="228600" indent="-228600">
              <a:spcAft>
                <a:spcPts val="800"/>
              </a:spcAft>
              <a:buClr>
                <a:srgbClr val="008080"/>
              </a:buClr>
              <a:buFont typeface="+mj-lt"/>
              <a:buChar char="•"/>
            </a:pPr>
            <a:r>
              <a:rPr lang="en-US" sz="1600">
                <a:solidFill>
                  <a:srgbClr val="282828"/>
                </a:solidFill>
                <a:latin typeface="Calibri" panose="020F0502020204030204" pitchFamily="34" charset="0"/>
              </a:rPr>
              <a:t>Workflows, Grafana/Prometheus and real-infrastructure chaos not executed</a:t>
            </a:r>
          </a:p>
          <a:p>
            <a:pPr marL="228600" indent="-228600">
              <a:spcAft>
                <a:spcPts val="800"/>
              </a:spcAft>
              <a:buClr>
                <a:srgbClr val="008080"/>
              </a:buClr>
              <a:buFont typeface="+mj-lt"/>
              <a:buChar char="•"/>
            </a:pPr>
            <a:r>
              <a:rPr lang="en-US" sz="1600">
                <a:solidFill>
                  <a:srgbClr val="282828"/>
                </a:solidFill>
                <a:latin typeface="Calibri" panose="020F0502020204030204" pitchFamily="34" charset="0"/>
              </a:rPr>
              <a:t>Comparison models are re-implementations, one run each</a:t>
            </a:r>
            <a:endParaRPr lang="en-IN" sz="1600">
              <a:solidFill>
                <a:srgbClr val="282828"/>
              </a:solidFill>
              <a:latin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CE247D9-FFC4-1843-4662-08DF4316D8D3}"/>
              </a:ext>
            </a:extLst>
          </p:cNvPr>
          <p:cNvSpPr txBox="1"/>
          <p:nvPr/>
        </p:nvSpPr>
        <p:spPr>
          <a:xfrm>
            <a:off x="6350000" y="1143000"/>
            <a:ext cx="5334000" cy="430887"/>
          </a:xfrm>
          <a:prstGeom prst="rect">
            <a:avLst/>
          </a:prstGeom>
          <a:noFill/>
        </p:spPr>
        <p:txBody>
          <a:bodyPr vert="horz" wrap="square" lIns="50800" rIns="50800" rtlCol="0" anchor="t">
            <a:spAutoFit/>
          </a:bodyPr>
          <a:lstStyle/>
          <a:p>
            <a:r>
              <a:rPr lang="en-IN" sz="2200" b="1">
                <a:solidFill>
                  <a:srgbClr val="28963C"/>
                </a:solidFill>
                <a:latin typeface="Calibri" panose="020F0502020204030204" pitchFamily="34" charset="0"/>
              </a:rPr>
              <a:t>Next steps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655A2BB-E7A9-EEA0-170E-99F5E21CA07A}"/>
              </a:ext>
            </a:extLst>
          </p:cNvPr>
          <p:cNvSpPr txBox="1"/>
          <p:nvPr/>
        </p:nvSpPr>
        <p:spPr>
          <a:xfrm>
            <a:off x="6350000" y="1574800"/>
            <a:ext cx="5461000" cy="222625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228600" indent="-228600">
              <a:spcAft>
                <a:spcPts val="800"/>
              </a:spcAft>
              <a:buClr>
                <a:srgbClr val="008080"/>
              </a:buClr>
              <a:buFont typeface="+mj-lt"/>
              <a:buChar char="•"/>
            </a:pPr>
            <a:r>
              <a:rPr lang="en-US" sz="1600">
                <a:solidFill>
                  <a:srgbClr val="282828"/>
                </a:solidFill>
                <a:latin typeface="Calibri" panose="020F0502020204030204" pitchFamily="34" charset="0"/>
              </a:rPr>
              <a:t>Train on a real microservice system with several scenarios per class</a:t>
            </a:r>
          </a:p>
          <a:p>
            <a:pPr marL="228600" indent="-228600">
              <a:spcAft>
                <a:spcPts val="800"/>
              </a:spcAft>
              <a:buClr>
                <a:srgbClr val="008080"/>
              </a:buClr>
              <a:buFont typeface="+mj-lt"/>
              <a:buChar char="•"/>
            </a:pPr>
            <a:r>
              <a:rPr lang="en-US" sz="1600">
                <a:solidFill>
                  <a:srgbClr val="282828"/>
                </a:solidFill>
                <a:latin typeface="Calibri" panose="020F0502020204030204" pitchFamily="34" charset="0"/>
              </a:rPr>
              <a:t>Cut false alarms (40% of healthy traces)</a:t>
            </a:r>
          </a:p>
          <a:p>
            <a:pPr marL="228600" indent="-228600">
              <a:spcAft>
                <a:spcPts val="800"/>
              </a:spcAft>
              <a:buClr>
                <a:srgbClr val="008080"/>
              </a:buClr>
              <a:buFont typeface="+mj-lt"/>
              <a:buChar char="•"/>
            </a:pPr>
            <a:r>
              <a:rPr lang="en-US" sz="1600">
                <a:solidFill>
                  <a:srgbClr val="282828"/>
                </a:solidFill>
                <a:latin typeface="Calibri" panose="020F0502020204030204" pitchFamily="34" charset="0"/>
              </a:rPr>
              <a:t>Multi-label output for compound faults</a:t>
            </a:r>
          </a:p>
          <a:p>
            <a:pPr marL="228600" indent="-228600">
              <a:spcAft>
                <a:spcPts val="800"/>
              </a:spcAft>
              <a:buClr>
                <a:srgbClr val="008080"/>
              </a:buClr>
              <a:buFont typeface="+mj-lt"/>
              <a:buChar char="•"/>
            </a:pPr>
            <a:r>
              <a:rPr lang="en-US" sz="1600">
                <a:solidFill>
                  <a:srgbClr val="282828"/>
                </a:solidFill>
                <a:latin typeface="Calibri" panose="020F0502020204030204" pitchFamily="34" charset="0"/>
              </a:rPr>
              <a:t>Signals outside the trace for silent defects</a:t>
            </a:r>
          </a:p>
          <a:p>
            <a:pPr marL="228600" indent="-228600">
              <a:spcAft>
                <a:spcPts val="800"/>
              </a:spcAft>
              <a:buClr>
                <a:srgbClr val="008080"/>
              </a:buClr>
              <a:buFont typeface="+mj-lt"/>
              <a:buChar char="•"/>
            </a:pPr>
            <a:r>
              <a:rPr lang="en-US" sz="1600">
                <a:solidFill>
                  <a:srgbClr val="282828"/>
                </a:solidFill>
                <a:latin typeface="Calibri" panose="020F0502020204030204" pitchFamily="34" charset="0"/>
              </a:rPr>
              <a:t>Run the unexecuted infrastructure; keep the gate advisory until T2</a:t>
            </a:r>
            <a:endParaRPr lang="en-IN" sz="1600">
              <a:solidFill>
                <a:srgbClr val="282828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76900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93E0E9B-6AD7-C885-90C6-750ACFB9F43F}"/>
              </a:ext>
            </a:extLst>
          </p:cNvPr>
          <p:cNvSpPr/>
          <p:nvPr/>
        </p:nvSpPr>
        <p:spPr>
          <a:xfrm>
            <a:off x="0" y="0"/>
            <a:ext cx="12192000" cy="812800"/>
          </a:xfrm>
          <a:prstGeom prst="rect">
            <a:avLst/>
          </a:prstGeom>
          <a:solidFill>
            <a:srgbClr val="16325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9F29434-4CFA-9003-69CD-4458EAC43CC7}"/>
              </a:ext>
            </a:extLst>
          </p:cNvPr>
          <p:cNvSpPr txBox="1"/>
          <p:nvPr/>
        </p:nvSpPr>
        <p:spPr>
          <a:xfrm>
            <a:off x="457200" y="65445"/>
            <a:ext cx="11277600" cy="492443"/>
          </a:xfrm>
          <a:prstGeom prst="rect">
            <a:avLst/>
          </a:prstGeom>
          <a:noFill/>
        </p:spPr>
        <p:txBody>
          <a:bodyPr vert="horz" wrap="square" lIns="50800" rIns="50800" rtlCol="0" anchor="ctr">
            <a:spAutoFit/>
          </a:bodyPr>
          <a:lstStyle/>
          <a:p>
            <a:r>
              <a:rPr lang="en-IN" sz="2600" b="1">
                <a:solidFill>
                  <a:srgbClr val="FFFFFF"/>
                </a:solidFill>
                <a:latin typeface="Calibri" panose="020F0502020204030204" pitchFamily="34" charset="0"/>
              </a:rPr>
              <a:t>Conclusion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61F66C1-3999-4FCF-3579-B4BD90A91996}"/>
              </a:ext>
            </a:extLst>
          </p:cNvPr>
          <p:cNvSpPr/>
          <p:nvPr/>
        </p:nvSpPr>
        <p:spPr>
          <a:xfrm>
            <a:off x="0" y="812800"/>
            <a:ext cx="12192000" cy="50800"/>
          </a:xfrm>
          <a:prstGeom prst="rect">
            <a:avLst/>
          </a:prstGeom>
          <a:solidFill>
            <a:srgbClr val="00808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066FE23-2093-D40A-5714-F44383690E1B}"/>
              </a:ext>
            </a:extLst>
          </p:cNvPr>
          <p:cNvSpPr txBox="1"/>
          <p:nvPr/>
        </p:nvSpPr>
        <p:spPr>
          <a:xfrm>
            <a:off x="11430000" y="6477000"/>
            <a:ext cx="508000" cy="261610"/>
          </a:xfrm>
          <a:prstGeom prst="rect">
            <a:avLst/>
          </a:prstGeom>
          <a:noFill/>
        </p:spPr>
        <p:txBody>
          <a:bodyPr vert="horz" wrap="square" lIns="50800" rIns="50800" rtlCol="0" anchor="t">
            <a:spAutoFit/>
          </a:bodyPr>
          <a:lstStyle/>
          <a:p>
            <a:pPr algn="r"/>
            <a:r>
              <a:rPr lang="en-IN" sz="1100">
                <a:solidFill>
                  <a:srgbClr val="787878"/>
                </a:solidFill>
                <a:latin typeface="Calibri" panose="020F0502020204030204" pitchFamily="34" charset="0"/>
              </a:rPr>
              <a:t>18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67025C5-7412-2243-69E0-3513C7855B56}"/>
              </a:ext>
            </a:extLst>
          </p:cNvPr>
          <p:cNvSpPr txBox="1"/>
          <p:nvPr/>
        </p:nvSpPr>
        <p:spPr>
          <a:xfrm>
            <a:off x="635000" y="1270000"/>
            <a:ext cx="10922000" cy="318035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228600" indent="-228600">
              <a:spcAft>
                <a:spcPts val="1400"/>
              </a:spcAft>
              <a:buClr>
                <a:srgbClr val="008080"/>
              </a:buClr>
              <a:buFont typeface="+mj-lt"/>
              <a:buChar char="•"/>
            </a:pPr>
            <a:r>
              <a:rPr lang="en-US" sz="2200">
                <a:solidFill>
                  <a:srgbClr val="282828"/>
                </a:solidFill>
                <a:latin typeface="Calibri" panose="020F0502020204030204" pitchFamily="34" charset="0"/>
              </a:rPr>
              <a:t>A trace-based triage agent that maps five failure classes to pipeline actions</a:t>
            </a:r>
          </a:p>
          <a:p>
            <a:pPr marL="228600" indent="-228600">
              <a:spcAft>
                <a:spcPts val="1400"/>
              </a:spcAft>
              <a:buClr>
                <a:srgbClr val="008080"/>
              </a:buClr>
              <a:buFont typeface="+mj-lt"/>
              <a:buChar char="•"/>
            </a:pPr>
            <a:r>
              <a:rPr lang="en-US" sz="2200">
                <a:solidFill>
                  <a:srgbClr val="282828"/>
                </a:solidFill>
                <a:latin typeface="Calibri" panose="020F0502020204030204" pitchFamily="34" charset="0"/>
              </a:rPr>
              <a:t>Macro-F1 0.7464 on unseen scenarios; the best re-implemented competitor (DeepLog-style LSTM given the same inputs as ours) reaches 0.7672</a:t>
            </a:r>
          </a:p>
          <a:p>
            <a:pPr marL="228600" indent="-228600">
              <a:spcAft>
                <a:spcPts val="1400"/>
              </a:spcAft>
              <a:buClr>
                <a:srgbClr val="008080"/>
              </a:buClr>
              <a:buFont typeface="+mj-lt"/>
              <a:buChar char="•"/>
            </a:pPr>
            <a:r>
              <a:rPr lang="en-US" sz="2200">
                <a:solidFill>
                  <a:srgbClr val="282828"/>
                </a:solidFill>
                <a:latin typeface="Calibri" panose="020F0502020204030204" pitchFamily="34" charset="0"/>
              </a:rPr>
              <a:t>A trust engine that grants autonomy from a statistical bound and withdraws it at once on a missed defect</a:t>
            </a:r>
          </a:p>
          <a:p>
            <a:pPr marL="228600" indent="-228600">
              <a:spcAft>
                <a:spcPts val="1400"/>
              </a:spcAft>
              <a:buClr>
                <a:srgbClr val="008080"/>
              </a:buClr>
              <a:buFont typeface="+mj-lt"/>
              <a:buChar char="•"/>
            </a:pPr>
            <a:r>
              <a:rPr lang="en-US" sz="2200">
                <a:solidFill>
                  <a:srgbClr val="282828"/>
                </a:solidFill>
                <a:latin typeface="Calibri" panose="020F0502020204030204" pitchFamily="34" charset="0"/>
              </a:rPr>
              <a:t>A release gate, live system and dashboard that show the whole loop, including where it fails</a:t>
            </a:r>
          </a:p>
          <a:p>
            <a:pPr marL="228600" indent="-228600">
              <a:spcAft>
                <a:spcPts val="1400"/>
              </a:spcAft>
              <a:buClr>
                <a:srgbClr val="008080"/>
              </a:buClr>
              <a:buFont typeface="+mj-lt"/>
              <a:buChar char="•"/>
            </a:pPr>
            <a:r>
              <a:rPr lang="en-US" sz="2200">
                <a:solidFill>
                  <a:srgbClr val="282828"/>
                </a:solidFill>
                <a:latin typeface="Calibri" panose="020F0502020204030204" pitchFamily="34" charset="0"/>
              </a:rPr>
              <a:t>183 automated tests; every limit stated</a:t>
            </a:r>
            <a:endParaRPr lang="en-IN" sz="2200">
              <a:solidFill>
                <a:srgbClr val="282828"/>
              </a:solidFill>
              <a:latin typeface="Calibri" panose="020F05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A5EC321-C5DE-0768-A52A-DD3B73AA9D14}"/>
              </a:ext>
            </a:extLst>
          </p:cNvPr>
          <p:cNvSpPr txBox="1"/>
          <p:nvPr/>
        </p:nvSpPr>
        <p:spPr>
          <a:xfrm>
            <a:off x="635000" y="5715000"/>
            <a:ext cx="10922000" cy="553998"/>
          </a:xfrm>
          <a:prstGeom prst="rect">
            <a:avLst/>
          </a:prstGeom>
          <a:noFill/>
        </p:spPr>
        <p:txBody>
          <a:bodyPr vert="horz" wrap="square" lIns="50800" rIns="50800" rtlCol="0" anchor="t">
            <a:spAutoFit/>
          </a:bodyPr>
          <a:lstStyle/>
          <a:p>
            <a:r>
              <a:rPr lang="en-IN" sz="3000" b="1">
                <a:solidFill>
                  <a:srgbClr val="008080"/>
                </a:solidFill>
                <a:latin typeface="Calibri" panose="020F0502020204030204" pitchFamily="34" charset="0"/>
              </a:rPr>
              <a:t>Thank you  ·  Questions?</a:t>
            </a:r>
          </a:p>
        </p:txBody>
      </p:sp>
    </p:spTree>
    <p:extLst>
      <p:ext uri="{BB962C8B-B14F-4D97-AF65-F5344CB8AC3E}">
        <p14:creationId xmlns:p14="http://schemas.microsoft.com/office/powerpoint/2010/main" val="13344408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2038</Words>
  <Application>Microsoft Office PowerPoint</Application>
  <PresentationFormat>Custom</PresentationFormat>
  <Paragraphs>272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Calibri</vt:lpstr>
      <vt:lpstr>Calibri Light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Praveen kumar</dc:creator>
  <cp:lastModifiedBy>Praveen kumar</cp:lastModifiedBy>
  <cp:revision>1</cp:revision>
  <dcterms:created xsi:type="dcterms:W3CDTF">2026-10-25T12:59:21Z</dcterms:created>
  <dcterms:modified xsi:type="dcterms:W3CDTF">2026-10-25T12:59:21Z</dcterms:modified>
</cp:coreProperties>
</file>